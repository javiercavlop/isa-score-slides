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  <p:sldId id="257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F1280FE-42B1-9048-FFD8-D1B3CDF1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E1FFC-7842-FD4B-40D6-261F5EB1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Curse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Customization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C602D2-4313-8BC9-3624-60818F387908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5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F494FEE-4193-9069-58A0-B6582E203A92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5472598" y="2908244"/>
            <a:ext cx="1123388" cy="535633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C938D4B3-A461-D826-B190-40A6A689BEB0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5472598" y="3794334"/>
            <a:ext cx="1123388" cy="0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028049B-9005-D033-39A4-364C78EFD5B0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5463727" y="4163110"/>
            <a:ext cx="1132259" cy="517314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n 39" descr="Forma&#10;&#10;Descripción generada automáticamente">
            <a:extLst>
              <a:ext uri="{FF2B5EF4-FFF2-40B4-BE49-F238E27FC236}">
                <a16:creationId xmlns:a16="http://schemas.microsoft.com/office/drawing/2014/main" id="{7E8F5F0B-4357-CA25-A40E-25D268751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59" b="19130"/>
          <a:stretch/>
        </p:blipFill>
        <p:spPr>
          <a:xfrm>
            <a:off x="1888280" y="2172512"/>
            <a:ext cx="3584318" cy="2512975"/>
          </a:xfrm>
          <a:prstGeom prst="rect">
            <a:avLst/>
          </a:prstGeom>
        </p:spPr>
      </p:pic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96950905-6A1F-56FF-EA87-58A8F6DE7EE8}"/>
              </a:ext>
            </a:extLst>
          </p:cNvPr>
          <p:cNvCxnSpPr/>
          <p:nvPr/>
        </p:nvCxnSpPr>
        <p:spPr>
          <a:xfrm>
            <a:off x="1888280" y="4683468"/>
            <a:ext cx="35754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9E4B68E-055A-2CF8-E885-535D0683C48A}"/>
              </a:ext>
            </a:extLst>
          </p:cNvPr>
          <p:cNvSpPr txBox="1"/>
          <p:nvPr/>
        </p:nvSpPr>
        <p:spPr>
          <a:xfrm>
            <a:off x="6595986" y="2677411"/>
            <a:ext cx="408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C786DCF-C73A-FF79-38F7-46E072080B2D}"/>
              </a:ext>
            </a:extLst>
          </p:cNvPr>
          <p:cNvSpPr txBox="1"/>
          <p:nvPr/>
        </p:nvSpPr>
        <p:spPr>
          <a:xfrm>
            <a:off x="6595986" y="3563501"/>
            <a:ext cx="408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9127A0F-3397-857F-2702-700A3CC8C53F}"/>
              </a:ext>
            </a:extLst>
          </p:cNvPr>
          <p:cNvSpPr txBox="1"/>
          <p:nvPr/>
        </p:nvSpPr>
        <p:spPr>
          <a:xfrm>
            <a:off x="6595986" y="4449591"/>
            <a:ext cx="408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90D7919-80EE-48C6-2864-21F54197EC9A}"/>
              </a:ext>
            </a:extLst>
          </p:cNvPr>
          <p:cNvSpPr txBox="1"/>
          <p:nvPr/>
        </p:nvSpPr>
        <p:spPr>
          <a:xfrm>
            <a:off x="0" y="6316525"/>
            <a:ext cx="10871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García-Fernández, A., Parejo, J. A., &amp; Ruiz-Cortés, A. (2024, Dec). Racing the Market: An Industry Support Analysis for Pricing-driven DevOps in SaaS. </a:t>
            </a:r>
          </a:p>
          <a:p>
            <a:r>
              <a:rPr lang="en-US" sz="1400" dirty="0"/>
              <a:t>In </a:t>
            </a:r>
            <a:r>
              <a:rPr lang="en-US" sz="1400" i="1" dirty="0"/>
              <a:t>International Conference on Service-oriented Computing (pp. 260-275)</a:t>
            </a:r>
            <a:r>
              <a:rPr lang="en-US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161805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388B057-566F-B86F-11DD-624B959F8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1DB1E-F603-4B94-B5E4-AD9A483C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Curse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Customization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DFA27F-3672-2D99-83F6-87662B5EB481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5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5DDBA7B-F4BC-5211-1692-24A493D88ED5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937698" y="1231634"/>
            <a:ext cx="3469123" cy="2456801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F472C7D-C202-0633-F109-93F6D9572AA1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3937698" y="1693299"/>
            <a:ext cx="3469123" cy="2029861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4248A4B-74DB-9D6B-6B54-B57400B19AAB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937698" y="2154964"/>
            <a:ext cx="3469123" cy="1589632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80D1992-A964-94DD-ECEA-5230C35173F6}"/>
              </a:ext>
            </a:extLst>
          </p:cNvPr>
          <p:cNvSpPr txBox="1"/>
          <p:nvPr/>
        </p:nvSpPr>
        <p:spPr>
          <a:xfrm>
            <a:off x="7406821" y="100080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5AFBF6F-054A-3D85-D3E8-C395DEC2579C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922048" y="2616622"/>
            <a:ext cx="3484773" cy="1148959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2A98CE6-3A51-1253-CA83-3EFFC6600B8D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3914781" y="3108989"/>
            <a:ext cx="3492040" cy="706653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A0A4E99-8BEB-D7BF-04A5-5628C9D4B637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83897" y="3982953"/>
            <a:ext cx="3430191" cy="1881856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 descr="Forma&#10;&#10;Descripción generada automáticamente">
            <a:extLst>
              <a:ext uri="{FF2B5EF4-FFF2-40B4-BE49-F238E27FC236}">
                <a16:creationId xmlns:a16="http://schemas.microsoft.com/office/drawing/2014/main" id="{D1CC43AF-3DD6-66FE-F76D-AC838E981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59" b="18454"/>
          <a:stretch/>
        </p:blipFill>
        <p:spPr>
          <a:xfrm>
            <a:off x="346601" y="1724883"/>
            <a:ext cx="3584318" cy="253399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DAB3016-F259-5CAF-80F3-C8402902B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35" y="4334015"/>
            <a:ext cx="2524409" cy="112367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429ED37-F0C9-B165-C7FF-B57E48D25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058" y="4466041"/>
            <a:ext cx="593362" cy="558834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89F0986-138D-6CAB-7D18-2951FFDCA11F}"/>
              </a:ext>
            </a:extLst>
          </p:cNvPr>
          <p:cNvCxnSpPr/>
          <p:nvPr/>
        </p:nvCxnSpPr>
        <p:spPr>
          <a:xfrm>
            <a:off x="346601" y="4258876"/>
            <a:ext cx="35754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29FE400E-D4D5-4A91-495D-6C89B83CA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35" y="5635528"/>
            <a:ext cx="2524409" cy="112367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172A077-E27A-4A86-7EC9-8C4B651D4D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8776" y="5698106"/>
            <a:ext cx="674263" cy="68557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2CBA5BE-21BA-16D5-B62E-25E947C5D2B5}"/>
              </a:ext>
            </a:extLst>
          </p:cNvPr>
          <p:cNvSpPr txBox="1"/>
          <p:nvPr/>
        </p:nvSpPr>
        <p:spPr>
          <a:xfrm>
            <a:off x="7406821" y="146246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calls)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1F33306-50D7-F6B8-9F76-5EC2C7D63574}"/>
              </a:ext>
            </a:extLst>
          </p:cNvPr>
          <p:cNvSpPr txBox="1"/>
          <p:nvPr/>
        </p:nvSpPr>
        <p:spPr>
          <a:xfrm>
            <a:off x="7406821" y="192413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6D5EF6E-0046-2DBB-01B2-836064BD622D}"/>
              </a:ext>
            </a:extLst>
          </p:cNvPr>
          <p:cNvSpPr txBox="1"/>
          <p:nvPr/>
        </p:nvSpPr>
        <p:spPr>
          <a:xfrm>
            <a:off x="7406821" y="2385789"/>
            <a:ext cx="4697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calls,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F165EBD-DA2D-F73E-D509-E6C433849D4F}"/>
              </a:ext>
            </a:extLst>
          </p:cNvPr>
          <p:cNvSpPr txBox="1"/>
          <p:nvPr/>
        </p:nvSpPr>
        <p:spPr>
          <a:xfrm>
            <a:off x="7406821" y="287815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6F3608E-8EE3-78BC-4B32-3E941E81A6E8}"/>
              </a:ext>
            </a:extLst>
          </p:cNvPr>
          <p:cNvSpPr txBox="1"/>
          <p:nvPr/>
        </p:nvSpPr>
        <p:spPr>
          <a:xfrm>
            <a:off x="7406821" y="333982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Ⓢ(GOLD, calls)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4990A8-C124-98E3-BF4B-1C75199855BB}"/>
              </a:ext>
            </a:extLst>
          </p:cNvPr>
          <p:cNvSpPr txBox="1"/>
          <p:nvPr/>
        </p:nvSpPr>
        <p:spPr>
          <a:xfrm>
            <a:off x="7406821" y="380148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382C336-2267-FC0B-FA6D-CA246D07E05E}"/>
              </a:ext>
            </a:extLst>
          </p:cNvPr>
          <p:cNvSpPr txBox="1"/>
          <p:nvPr/>
        </p:nvSpPr>
        <p:spPr>
          <a:xfrm>
            <a:off x="7406821" y="4263144"/>
            <a:ext cx="4697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Ⓢ(GOLD, calls,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129A98D-D101-0236-804A-8B1A8FEB9F17}"/>
              </a:ext>
            </a:extLst>
          </p:cNvPr>
          <p:cNvSpPr txBox="1"/>
          <p:nvPr/>
        </p:nvSpPr>
        <p:spPr>
          <a:xfrm>
            <a:off x="7414088" y="471064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453F438-320A-A15F-9D29-5A0A86DE1E68}"/>
              </a:ext>
            </a:extLst>
          </p:cNvPr>
          <p:cNvSpPr txBox="1"/>
          <p:nvPr/>
        </p:nvSpPr>
        <p:spPr>
          <a:xfrm>
            <a:off x="7414088" y="517231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Ⓢ(PLAT., calls)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2BD841D-E9FF-EA54-8936-A27E64B143A1}"/>
              </a:ext>
            </a:extLst>
          </p:cNvPr>
          <p:cNvSpPr txBox="1"/>
          <p:nvPr/>
        </p:nvSpPr>
        <p:spPr>
          <a:xfrm>
            <a:off x="7414088" y="563397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F241924-7CF5-23BB-7C76-E471457E0773}"/>
              </a:ext>
            </a:extLst>
          </p:cNvPr>
          <p:cNvSpPr txBox="1"/>
          <p:nvPr/>
        </p:nvSpPr>
        <p:spPr>
          <a:xfrm>
            <a:off x="7414088" y="6095634"/>
            <a:ext cx="5112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Ⓢ(PLAT., calls,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E9DEFF16-E7A1-75F9-D6A7-5A84389FD578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914780" y="3570654"/>
            <a:ext cx="3492041" cy="280893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61752A1E-0504-0C93-0351-FF6214818990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914779" y="3884787"/>
            <a:ext cx="3492042" cy="147532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297BF6D4-44BB-45AD-80F3-2F1600E816A7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914779" y="3934542"/>
            <a:ext cx="3492042" cy="559435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469FECA-B0B5-A176-E479-D0C57F07D9D7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907512" y="3969267"/>
            <a:ext cx="3506576" cy="972212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56503CC-6226-D4CE-A030-126E7CFFA81E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938186" y="3990703"/>
            <a:ext cx="3475902" cy="1412441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6F8B88DC-8A50-7DC5-B2E2-CEA439601977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929315" y="4005172"/>
            <a:ext cx="3484773" cy="2321295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B33DAF4-5137-B202-7069-D95878A87F81}"/>
              </a:ext>
            </a:extLst>
          </p:cNvPr>
          <p:cNvSpPr txBox="1"/>
          <p:nvPr/>
        </p:nvSpPr>
        <p:spPr>
          <a:xfrm>
            <a:off x="1713760" y="5018052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CALLS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38A4B2C-F063-C588-F8D8-25129D327BB6}"/>
              </a:ext>
            </a:extLst>
          </p:cNvPr>
          <p:cNvSpPr txBox="1"/>
          <p:nvPr/>
        </p:nvSpPr>
        <p:spPr>
          <a:xfrm>
            <a:off x="1194571" y="6324812"/>
            <a:ext cx="201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 STORAGE</a:t>
            </a:r>
          </a:p>
        </p:txBody>
      </p:sp>
    </p:spTree>
    <p:extLst>
      <p:ext uri="{BB962C8B-B14F-4D97-AF65-F5344CB8AC3E}">
        <p14:creationId xmlns:p14="http://schemas.microsoft.com/office/powerpoint/2010/main" val="3919964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