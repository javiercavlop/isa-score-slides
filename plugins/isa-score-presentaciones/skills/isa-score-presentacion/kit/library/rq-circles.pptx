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A1123-2F9B-25AA-9ED3-5A90330C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</a:rPr>
              <a:t>Analysis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of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the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Industry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b="1" dirty="0" err="1">
                <a:solidFill>
                  <a:srgbClr val="7E0029"/>
                </a:solidFill>
              </a:rPr>
              <a:t>Research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Questions</a:t>
            </a:r>
            <a:endParaRPr lang="es-ES" b="1" dirty="0">
              <a:solidFill>
                <a:srgbClr val="7E0029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B49C79E-E7CB-3B59-D9E7-B0270A17CAC9}"/>
              </a:ext>
            </a:extLst>
          </p:cNvPr>
          <p:cNvGrpSpPr/>
          <p:nvPr/>
        </p:nvGrpSpPr>
        <p:grpSpPr>
          <a:xfrm>
            <a:off x="966000" y="2007789"/>
            <a:ext cx="10142520" cy="830998"/>
            <a:chOff x="966000" y="2007789"/>
            <a:chExt cx="10142520" cy="83099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7510D17-C279-CB1D-6047-06800C7AC294}"/>
                </a:ext>
              </a:extLst>
            </p:cNvPr>
            <p:cNvSpPr/>
            <p:nvPr/>
          </p:nvSpPr>
          <p:spPr>
            <a:xfrm>
              <a:off x="966000" y="2007790"/>
              <a:ext cx="871765" cy="830997"/>
            </a:xfrm>
            <a:prstGeom prst="ellipse">
              <a:avLst/>
            </a:prstGeom>
            <a:solidFill>
              <a:srgbClr val="7E0029"/>
            </a:solidFill>
            <a:ln>
              <a:solidFill>
                <a:srgbClr val="7E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4400" dirty="0">
                  <a:solidFill>
                    <a:schemeClr val="bg1"/>
                  </a:solidFill>
                </a:rPr>
                <a:t>1</a:t>
              </a:r>
              <a:endParaRPr lang="es-ES_tradnl" dirty="0">
                <a:solidFill>
                  <a:schemeClr val="bg1"/>
                </a:solidFill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309ED8F3-2516-18DF-FA93-7BB904190442}"/>
                </a:ext>
              </a:extLst>
            </p:cNvPr>
            <p:cNvSpPr txBox="1"/>
            <p:nvPr/>
          </p:nvSpPr>
          <p:spPr>
            <a:xfrm>
              <a:off x="2034893" y="2007789"/>
              <a:ext cx="90736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err="1">
                  <a:effectLst/>
                  <a:latin typeface="Helvetica" pitchFamily="2" charset="0"/>
                </a:rPr>
                <a:t>How</a:t>
              </a:r>
              <a:r>
                <a:rPr lang="es-ES" sz="2400" dirty="0">
                  <a:effectLst/>
                  <a:latin typeface="Helvetica" pitchFamily="2" charset="0"/>
                </a:rPr>
                <a:t> are pricings’ </a:t>
              </a:r>
              <a:r>
                <a:rPr lang="es-ES" sz="2400" dirty="0" err="1">
                  <a:effectLst/>
                  <a:latin typeface="Helvetica" pitchFamily="2" charset="0"/>
                </a:rPr>
                <a:t>configuration</a:t>
              </a:r>
              <a:r>
                <a:rPr lang="es-ES" sz="2400" dirty="0">
                  <a:effectLst/>
                  <a:latin typeface="Helvetica" pitchFamily="2" charset="0"/>
                </a:rPr>
                <a:t> and </a:t>
              </a:r>
              <a:r>
                <a:rPr lang="es-ES" sz="2400" dirty="0" err="1">
                  <a:effectLst/>
                  <a:latin typeface="Helvetica" pitchFamily="2" charset="0"/>
                </a:rPr>
                <a:t>evaluation</a:t>
              </a:r>
              <a:r>
                <a:rPr lang="es-ES" sz="2400" dirty="0"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spaces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evolving</a:t>
              </a:r>
              <a:r>
                <a:rPr lang="es-ES" sz="2400" dirty="0">
                  <a:effectLst/>
                  <a:latin typeface="Helvetica" pitchFamily="2" charset="0"/>
                </a:rPr>
                <a:t> in </a:t>
              </a:r>
              <a:r>
                <a:rPr lang="es-ES" sz="2400" dirty="0" err="1">
                  <a:effectLst/>
                  <a:latin typeface="Helvetica" pitchFamily="2" charset="0"/>
                </a:rPr>
                <a:t>modern</a:t>
              </a:r>
              <a:r>
                <a:rPr lang="es-ES" sz="2400" dirty="0">
                  <a:effectLst/>
                  <a:latin typeface="Helvetica" pitchFamily="2" charset="0"/>
                </a:rPr>
                <a:t> SaaS?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A823099-F790-C49C-91DD-D768520219B9}"/>
              </a:ext>
            </a:extLst>
          </p:cNvPr>
          <p:cNvGrpSpPr/>
          <p:nvPr/>
        </p:nvGrpSpPr>
        <p:grpSpPr>
          <a:xfrm>
            <a:off x="966000" y="3446623"/>
            <a:ext cx="10142520" cy="830999"/>
            <a:chOff x="965999" y="3105513"/>
            <a:chExt cx="10142520" cy="830999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1D4CBC75-11E9-F634-2E1D-E865EC4EBF55}"/>
                </a:ext>
              </a:extLst>
            </p:cNvPr>
            <p:cNvSpPr/>
            <p:nvPr/>
          </p:nvSpPr>
          <p:spPr>
            <a:xfrm>
              <a:off x="965999" y="3105515"/>
              <a:ext cx="871765" cy="830997"/>
            </a:xfrm>
            <a:prstGeom prst="ellipse">
              <a:avLst/>
            </a:prstGeom>
            <a:solidFill>
              <a:srgbClr val="7E0029"/>
            </a:solidFill>
            <a:ln>
              <a:solidFill>
                <a:srgbClr val="7E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4400" dirty="0">
                  <a:solidFill>
                    <a:schemeClr val="bg1"/>
                  </a:solidFill>
                </a:rPr>
                <a:t>2</a:t>
              </a:r>
              <a:endParaRPr lang="es-ES_tradnl" dirty="0">
                <a:solidFill>
                  <a:schemeClr val="bg1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4C09A4BD-81F5-9972-4362-180AE92030CB}"/>
                </a:ext>
              </a:extLst>
            </p:cNvPr>
            <p:cNvSpPr txBox="1"/>
            <p:nvPr/>
          </p:nvSpPr>
          <p:spPr>
            <a:xfrm>
              <a:off x="2034892" y="3105513"/>
              <a:ext cx="90736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>
                  <a:effectLst/>
                  <a:latin typeface="Helvetica" pitchFamily="2" charset="0"/>
                </a:rPr>
                <a:t>Are </a:t>
              </a:r>
              <a:r>
                <a:rPr lang="es-ES" sz="2400" dirty="0" err="1">
                  <a:effectLst/>
                  <a:latin typeface="Helvetica" pitchFamily="2" charset="0"/>
                </a:rPr>
                <a:t>current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feature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toggling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tools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appropriate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for</a:t>
              </a:r>
              <a:r>
                <a:rPr lang="es-ES" sz="2400" dirty="0"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optimizing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pricing-driven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feature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toggling</a:t>
              </a:r>
              <a:r>
                <a:rPr lang="es-ES" sz="2400" dirty="0">
                  <a:effectLst/>
                  <a:latin typeface="Helvetica" pitchFamily="2" charset="0"/>
                </a:rPr>
                <a:t>?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0AF7A3A-7729-14E6-A2A7-86DB5CFB5DDF}"/>
              </a:ext>
            </a:extLst>
          </p:cNvPr>
          <p:cNvGrpSpPr/>
          <p:nvPr/>
        </p:nvGrpSpPr>
        <p:grpSpPr>
          <a:xfrm>
            <a:off x="966000" y="4885460"/>
            <a:ext cx="10142519" cy="831000"/>
            <a:chOff x="965999" y="4203237"/>
            <a:chExt cx="10142519" cy="831000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730A0F8-2D14-9AB4-F7CF-3EDD4B92D77F}"/>
                </a:ext>
              </a:extLst>
            </p:cNvPr>
            <p:cNvSpPr/>
            <p:nvPr/>
          </p:nvSpPr>
          <p:spPr>
            <a:xfrm>
              <a:off x="965999" y="4203240"/>
              <a:ext cx="871765" cy="830997"/>
            </a:xfrm>
            <a:prstGeom prst="ellipse">
              <a:avLst/>
            </a:prstGeom>
            <a:solidFill>
              <a:srgbClr val="7E0029"/>
            </a:solidFill>
            <a:ln>
              <a:solidFill>
                <a:srgbClr val="7E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4400" dirty="0">
                  <a:solidFill>
                    <a:schemeClr val="bg1"/>
                  </a:solidFill>
                </a:rPr>
                <a:t>3</a:t>
              </a:r>
              <a:endParaRPr lang="es-ES_tradnl" dirty="0">
                <a:solidFill>
                  <a:schemeClr val="bg1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2876816-E4E8-1FBC-905D-BE5E1562E8E1}"/>
                </a:ext>
              </a:extLst>
            </p:cNvPr>
            <p:cNvSpPr txBox="1"/>
            <p:nvPr/>
          </p:nvSpPr>
          <p:spPr>
            <a:xfrm>
              <a:off x="2034891" y="4203237"/>
              <a:ext cx="90736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err="1">
                  <a:effectLst/>
                  <a:latin typeface="Helvetica" pitchFamily="2" charset="0"/>
                </a:rPr>
                <a:t>Does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current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feature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toggling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tools</a:t>
              </a:r>
              <a:r>
                <a:rPr lang="es-ES" sz="2400" dirty="0">
                  <a:effectLst/>
                  <a:latin typeface="Helvetica" pitchFamily="2" charset="0"/>
                </a:rPr>
                <a:t>’ </a:t>
              </a:r>
              <a:r>
                <a:rPr lang="es-ES" sz="2400" dirty="0" err="1">
                  <a:effectLst/>
                  <a:latin typeface="Helvetica" pitchFamily="2" charset="0"/>
                </a:rPr>
                <a:t>underlying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models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provide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enough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expressiveness</a:t>
              </a:r>
              <a:r>
                <a:rPr lang="es-ES" sz="2400" dirty="0"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to</a:t>
              </a:r>
              <a:r>
                <a:rPr lang="es-ES" sz="2400" dirty="0">
                  <a:effectLst/>
                  <a:latin typeface="Helvetica" pitchFamily="2" charset="0"/>
                </a:rPr>
                <a:t> </a:t>
              </a:r>
              <a:r>
                <a:rPr lang="es-ES" sz="2400" dirty="0" err="1">
                  <a:effectLst/>
                  <a:latin typeface="Helvetica" pitchFamily="2" charset="0"/>
                </a:rPr>
                <a:t>represent</a:t>
              </a:r>
              <a:r>
                <a:rPr lang="es-ES" sz="2400" dirty="0">
                  <a:effectLst/>
                  <a:latin typeface="Helvetica" pitchFamily="2" charset="0"/>
                </a:rPr>
                <a:t> real-</a:t>
              </a:r>
              <a:r>
                <a:rPr lang="es-ES" sz="2400" dirty="0" err="1">
                  <a:effectLst/>
                  <a:latin typeface="Helvetica" pitchFamily="2" charset="0"/>
                </a:rPr>
                <a:t>world</a:t>
              </a:r>
              <a:r>
                <a:rPr lang="es-ES" sz="2400" dirty="0">
                  <a:effectLst/>
                  <a:latin typeface="Helvetica" pitchFamily="2" charset="0"/>
                </a:rPr>
                <a:t> pricings?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0153D42-9385-D0B9-8F5A-9B7EED616B30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7923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