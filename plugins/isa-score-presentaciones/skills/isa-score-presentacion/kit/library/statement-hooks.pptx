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2" r:id="rId4"/>
    <p:sldMasterId id="2147483741" r:id="rId11"/>
    <p:sldMasterId id="2147483754" r:id="rId14"/>
  </p:sldMasterIdLst>
  <p:notesMasterIdLst>
    <p:notesMasterId r:id="rId54"/>
  </p:notesMasterIdLst>
  <p:sldIdLst>
    <p:sldId id="256" r:id="rId12"/>
    <p:sldId id="257" r:id="rId13"/>
    <p:sldId id="258" r:id="rId1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RVEY" id="{69C2311D-418E-054C-8B44-695FFBE02399}">
          <p14:sldIdLst>
            <p14:sldId id="1068"/>
            <p14:sldId id="1443"/>
            <p14:sldId id="1514"/>
            <p14:sldId id="1510"/>
            <p14:sldId id="1512"/>
            <p14:sldId id="1471"/>
            <p14:sldId id="1472"/>
            <p14:sldId id="1473"/>
            <p14:sldId id="1474"/>
            <p14:sldId id="1475"/>
            <p14:sldId id="1476"/>
            <p14:sldId id="1477"/>
            <p14:sldId id="1280"/>
            <p14:sldId id="1470"/>
            <p14:sldId id="1496"/>
            <p14:sldId id="1498"/>
            <p14:sldId id="1497"/>
            <p14:sldId id="1500"/>
            <p14:sldId id="1469"/>
            <p14:sldId id="1502"/>
            <p14:sldId id="1463"/>
            <p14:sldId id="1464"/>
            <p14:sldId id="1358"/>
            <p14:sldId id="1366"/>
            <p14:sldId id="1489"/>
            <p14:sldId id="1490"/>
            <p14:sldId id="1491"/>
            <p14:sldId id="1492"/>
            <p14:sldId id="1493"/>
            <p14:sldId id="1494"/>
            <p14:sldId id="1495"/>
            <p14:sldId id="1503"/>
            <p14:sldId id="1466"/>
            <p14:sldId id="1509"/>
            <p14:sldId id="1505"/>
            <p14:sldId id="1478"/>
            <p14:sldId id="1506"/>
            <p14:sldId id="1508"/>
            <p14:sldId id="1507"/>
            <p14:sldId id="1277"/>
            <p14:sldId id="1486"/>
            <p14:sldId id="1487"/>
            <p14:sldId id="1480"/>
            <p14:sldId id="1281"/>
            <p14:sldId id="1282"/>
            <p14:sldId id="1485"/>
            <p14:sldId id="1488"/>
            <p14:sldId id="1513"/>
            <p14:sldId id="12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EL RESINAS ARIAS DE REYNA" initials="MRADR" lastIdx="13" clrIdx="0">
    <p:extLst>
      <p:ext uri="{19B8F6BF-5375-455C-9EA6-DF929625EA0E}">
        <p15:presenceInfo xmlns:p15="http://schemas.microsoft.com/office/powerpoint/2012/main" userId="S::resinas@us.es::03212896-fb2f-4e95-9dcf-71df1a9d8c3f" providerId="AD"/>
      </p:ext>
    </p:extLst>
  </p:cmAuthor>
  <p:cmAuthor id="2" name="MARIA SALAS URBANO" initials="MSU" lastIdx="3" clrIdx="1">
    <p:extLst>
      <p:ext uri="{19B8F6BF-5375-455C-9EA6-DF929625EA0E}">
        <p15:presenceInfo xmlns:p15="http://schemas.microsoft.com/office/powerpoint/2012/main" userId="MARIA SALAS URBANO" providerId="None"/>
      </p:ext>
    </p:extLst>
  </p:cmAuthor>
  <p:cmAuthor id="3" name="CRISTINA CABANILLAS MACIAS" initials="CCM" lastIdx="1" clrIdx="2">
    <p:extLst>
      <p:ext uri="{19B8F6BF-5375-455C-9EA6-DF929625EA0E}">
        <p15:presenceInfo xmlns:p15="http://schemas.microsoft.com/office/powerpoint/2012/main" userId="S::cristinacabanillas@us.es::4532e087-6711-4360-a25b-0477b7cdd7f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1B3F"/>
    <a:srgbClr val="000000"/>
    <a:srgbClr val="9DD8E9"/>
    <a:srgbClr val="31859C"/>
    <a:srgbClr val="FFC68C"/>
    <a:srgbClr val="FFEEA3"/>
    <a:srgbClr val="68A5AB"/>
    <a:srgbClr val="DEBCDA"/>
    <a:srgbClr val="87999C"/>
    <a:srgbClr val="FF9D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67"/>
    <p:restoredTop sz="89066" autoAdjust="0"/>
  </p:normalViewPr>
  <p:slideViewPr>
    <p:cSldViewPr snapToGrid="0">
      <p:cViewPr varScale="1">
        <p:scale>
          <a:sx n="139" d="100"/>
          <a:sy n="139" d="100"/>
        </p:scale>
        <p:origin x="200" y="3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Master" Target="slideMasters/slideMaster2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Master" Target="slideMasters/slideMaster3.xml"/><Relationship Id="rId15" Type="http://schemas.openxmlformats.org/officeDocument/2006/relationships/slide" Target="slides/slide3.xml"/><Relationship Id="rId54" Type="http://schemas.openxmlformats.org/officeDocument/2006/relationships/notesMaster" Target="notesMasters/notesMaster1.xml"/><Relationship Id="rId55" Type="http://schemas.openxmlformats.org/officeDocument/2006/relationships/commentAuthors" Target="commentAuthors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E1B5A-6D1D-4424-B231-BA9578D043E9}" type="datetimeFigureOut">
              <a:rPr lang="es-ES" smtClean="0"/>
              <a:t>10/6/26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B20BF-CB95-4761-9F17-69DD67B574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5290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10/6/26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1/2/26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1/2/26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1/2/26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1/2/26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1/2/26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8E6207-2E42-A260-2215-7A89D342B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FC912F-0B03-D312-DED4-DD898B286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61D0BD8-73B3-E211-26E0-65118115ED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F9209-4628-B4FB-E6E0-123E1F79F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65886-8DD7-1841-8F61-7FEC91FB9E8A}" type="datetime1">
              <a:rPr lang="es-ES" smtClean="0"/>
              <a:t>1/2/26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50833EA-567D-295F-B6E5-F775B5F3B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6579C0A-6389-7D9C-4D5B-18B13C7FA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127957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5A9291-70AC-CD38-AD5D-010207DEC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EB8DAA2-F21E-BFE9-9B59-A72BDAE84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D38451-C6D1-5796-7106-9408DD8F4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ACF22-3490-9C48-AAD0-9008F0F5E66B}" type="datetime1">
              <a:rPr lang="es-ES" smtClean="0"/>
              <a:t>1/2/26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768F4E-4F54-3BFD-9F5D-4438F92B7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6B18AE-E547-2306-32A2-13DE8B80D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9746750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9CCD92A-A34E-D2C0-2FEB-CE76263DF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A5CA3-3CE9-7948-97E8-98AAE23B93A7}" type="datetime1">
              <a:rPr lang="es-ES" smtClean="0"/>
              <a:t>1/2/26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AED4A33-0891-60B6-1F80-1FEC82DF0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8347339-E438-EEF2-8C9F-F0478DE00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78BBE-A5FA-4073-915E-8A98A1CFAC5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425344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821622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337DC6-EC15-0C9E-D8E2-B2AB070C1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14E880-E1B2-2E0E-6B31-AD987993B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476F32-EBF2-5C81-6D4D-9DDAB2F7E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936FD-3C1D-3C44-8C1A-BA0BF1527D36}" type="datetime1">
              <a:rPr lang="es-ES" smtClean="0"/>
              <a:t>1/2/26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28D3DC-E745-18DF-4D74-9AF39DA7A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DB7C02-E7C5-F3D5-275D-AA85253E0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764884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54251F-4AA8-74F0-541B-9046533CC6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C8FF0B-F75B-8CEA-494D-013B68CEC1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5C4BB9-CCBD-7DDF-8D12-CC585B5E3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4CE30-A6A7-7342-AFF7-ED5837B486D0}" type="datetime1">
              <a:rPr lang="es-ES" smtClean="0"/>
              <a:t>1/2/26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7F3354-CCA3-443B-6324-479B8FFB7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6431B3-370F-FB68-33AA-D1FC5B737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02993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49900D-4D3A-ED57-5B28-27B4430FD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8FE2983-7D96-A3EA-731D-9D61FC476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E0F6D-EFD2-DE46-BC52-87FCA8D61492}" type="datetime1">
              <a:rPr lang="es-ES" smtClean="0"/>
              <a:t>1/2/26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7295434-EFDD-E0A3-EDBF-7A17BDEA0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AFC4B29-FDF1-AF4B-BDC0-897174525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856346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F158087-E991-B6ED-CDC3-2AB5A02C10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284DFC4-E067-6008-074F-B7FEA1304C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67C1AC6-435B-4A03-96D3-0FA332BFD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6C80D-DE82-934F-B6DA-F93999FE90FF}" type="datetime1">
              <a:rPr lang="es-ES" smtClean="0"/>
              <a:t>1/2/26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99AFD2-B451-33BE-D1CC-E28BFE250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218213-6836-6471-8437-0D14EE12A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566335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956B66-FEDB-2FEC-479B-652E26E2C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67522AA-44FC-1B36-1272-E6C35FA19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9354B46-7846-1091-12C8-C8740FEB67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9173700-6089-0C6E-2CAB-C25DF1D7D7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481C747-CF4C-6357-FE04-5E64B3CFC4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27B91CA-BC39-D01F-E846-BBA3D294C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F0AA-8EF7-1A42-A098-F69E5937DF6C}" type="datetime1">
              <a:rPr lang="es-ES" smtClean="0"/>
              <a:t>1/2/26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71875CB-8D86-4A15-64FD-9CEF2A304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35C1C11-EB90-752A-F5E8-A29B7FFE9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586722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420DBD-387C-9797-C3D8-463B67EB6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DBCD540-46F6-9341-DC8D-2C48316D29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62607B-4A75-204A-545B-424C6FEF3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35E11-D71D-A146-BF49-B1ECF88DD0F1}" type="datetime1">
              <a:rPr lang="es-ES" smtClean="0"/>
              <a:t>1/2/26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4E28A4-5F37-5A00-561B-7C55A7756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38CF9D-E5BE-1F9D-0996-AD080A475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879700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A2CA51-9759-CD68-5CC3-F2657CB8F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125010-4404-32D0-FABE-270D3A5302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5F88668-3D27-4C2E-7065-81782A0766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C9D353-59FF-B5EE-4969-899AD7033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44121-E195-C147-8E03-AE5DA9552ECC}" type="datetime1">
              <a:rPr lang="es-ES" smtClean="0"/>
              <a:t>1/2/26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5E41CA-20F0-4A97-914D-7AEBEFF87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DAD3DB-9679-7FEE-3425-76EF8C757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8115649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BB4F94-C924-99C1-88E7-FD092AD11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F696094-7949-AE1C-B6AD-52DEB5DCB0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0FB0D63-45BD-5A3C-EF9E-F617B42895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37B709B-D5AA-7B8D-742A-6A451E1E7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AB2B1-D5E6-3346-B0C4-5D24BAD756F0}" type="datetime1">
              <a:rPr lang="es-ES" smtClean="0"/>
              <a:t>1/2/26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964EAD-FEA8-66B0-3C7B-59E1CE605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3DEC519-DE0B-7651-A797-121D49277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889324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5.xml"/><Relationship Id="rId20" Type="http://schemas.openxmlformats.org/officeDocument/2006/relationships/theme" Target="../theme/theme3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slideLayout" Target="../slideLayouts/slideLayout43.xml"/><Relationship Id="rId3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7.xml"/><Relationship Id="rId6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39.xml"/><Relationship Id="rId9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2.xml"/><Relationship Id="rId13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1/2/26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35" r:id="rId14"/>
    <p:sldLayoutId id="2147483736" r:id="rId15"/>
    <p:sldLayoutId id="2147483737" r:id="rId16"/>
    <p:sldLayoutId id="2147483738" r:id="rId17"/>
    <p:sldLayoutId id="2147483739" r:id="rId18"/>
    <p:sldLayoutId id="2147483740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06C415F-4666-E7C3-7116-D2922CA94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90AE60B-3ED2-D693-90DA-957DE6D75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C8C4A6-A84A-8738-F9D3-86965BF4F6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EF3EB5-4A05-9A45-9D66-C70D573B598D}" type="datetime1">
              <a:rPr lang="es-ES" smtClean="0"/>
              <a:t>1/2/26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9120A4-D6CE-93B1-B314-16B569AD53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BC055D-5F47-132A-38C7-3B48824084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8771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23920B1C-49E7-F618-D8AF-60DF26B87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C31B19C-03FD-85E8-5ABB-32F9BDDCF9F5}"/>
              </a:ext>
            </a:extLst>
          </p:cNvPr>
          <p:cNvSpPr txBox="1"/>
          <p:nvPr/>
        </p:nvSpPr>
        <p:spPr>
          <a:xfrm>
            <a:off x="4020752" y="3013501"/>
            <a:ext cx="415049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latin typeface="Baloo Bhai 2 SemiBold" panose="03080502040302020200" pitchFamily="66" charset="77"/>
                <a:cs typeface="Baloo Bhai 2 SemiBold" panose="03080502040302020200" pitchFamily="66" charset="77"/>
              </a:rPr>
              <a:t>Customization</a:t>
            </a:r>
            <a:endParaRPr lang="en-US" b="1" dirty="0">
              <a:latin typeface="Baloo Bhai 2 SemiBold" panose="03080502040302020200" pitchFamily="66" charset="77"/>
              <a:cs typeface="Baloo Bhai 2 SemiBold" panose="03080502040302020200" pitchFamily="66" charset="77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5477508-EFBC-93BC-B3A8-C0486963EA4C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456485629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EEE9E170-44A8-EC5C-B402-982303ED8415}"/>
              </a:ext>
            </a:extLst>
          </p:cNvPr>
          <p:cNvSpPr txBox="1"/>
          <p:nvPr/>
        </p:nvSpPr>
        <p:spPr>
          <a:xfrm>
            <a:off x="199193" y="2859613"/>
            <a:ext cx="11793613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Web systems have exploded from offering tens of configurations to literally </a:t>
            </a:r>
          </a:p>
          <a:p>
            <a:r>
              <a:rPr lang="en-US" sz="4000" b="1" dirty="0">
                <a:solidFill>
                  <a:srgbClr val="FF0000"/>
                </a:solidFill>
              </a:rPr>
              <a:t>THOUSANDS</a:t>
            </a:r>
            <a:r>
              <a:rPr lang="en-US" sz="2800" b="1" dirty="0"/>
              <a:t>—transforming customization from a luxury into an expectation.</a:t>
            </a:r>
            <a:endParaRPr lang="en-US" sz="28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952A9AD-FBC2-F454-EFE3-BF89937D0C1A}"/>
              </a:ext>
            </a:extLst>
          </p:cNvPr>
          <p:cNvSpPr txBox="1"/>
          <p:nvPr/>
        </p:nvSpPr>
        <p:spPr>
          <a:xfrm>
            <a:off x="199193" y="6202680"/>
            <a:ext cx="112180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García-Fernández, A., Parejo, J. A., </a:t>
            </a:r>
            <a:r>
              <a:rPr lang="en-US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Cavero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, F. J., &amp; Ruiz-Cortés, A. (2024, December). Racing the market: An industry support analysis for </a:t>
            </a:r>
          </a:p>
          <a:p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pricing-driven </a:t>
            </a:r>
            <a:r>
              <a:rPr lang="en-US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devops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 in SaaS. In </a:t>
            </a:r>
            <a:r>
              <a:rPr lang="en-US" sz="1400" i="1" dirty="0">
                <a:solidFill>
                  <a:srgbClr val="222222"/>
                </a:solidFill>
                <a:latin typeface="Arial" panose="020B0604020202020204" pitchFamily="34" charset="0"/>
              </a:rPr>
              <a:t>International Conference on Service-Oriented Computing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 (pp. 260-275).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AE3CA8A-5DE0-1C21-DF4A-C21695BECC90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61895759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A1E38F93-3C38-C640-66B5-95754EBCC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0">
            <a:extLst>
              <a:ext uri="{FF2B5EF4-FFF2-40B4-BE49-F238E27FC236}">
                <a16:creationId xmlns:a16="http://schemas.microsoft.com/office/drawing/2014/main" id="{CFBB79FD-2563-DD17-886B-926DDB144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8"/>
            <a:ext cx="12192000" cy="1325563"/>
          </a:xfrm>
        </p:spPr>
        <p:txBody>
          <a:bodyPr lIns="0" rIns="0">
            <a:norm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  <a:latin typeface="Baloo Bhai 2 Medium" panose="03080502040302020200" pitchFamily="66" charset="77"/>
                <a:cs typeface="Baloo Bhai 2 Medium" panose="03080502040302020200" pitchFamily="66" charset="77"/>
              </a:rPr>
              <a:t>Pricing</a:t>
            </a:r>
            <a:r>
              <a:rPr lang="en-US" sz="4000" dirty="0">
                <a:latin typeface="Baloo Bhai 2 Medium" panose="03080502040302020200" pitchFamily="66" charset="77"/>
                <a:cs typeface="Baloo Bhai 2 Medium" panose="03080502040302020200" pitchFamily="66" charset="77"/>
              </a:rPr>
              <a:t>-driven Development &amp; Operation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0845766-F35C-157F-A84D-342003C30238}"/>
              </a:ext>
            </a:extLst>
          </p:cNvPr>
          <p:cNvSpPr txBox="1"/>
          <p:nvPr/>
        </p:nvSpPr>
        <p:spPr>
          <a:xfrm>
            <a:off x="11824592" y="633478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85167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83107"/>
    </mc:Choice>
    <mc:Fallback xmlns="">
      <p:transition advTm="83107"/>
    </mc:Fallback>
  </mc:AlternateContent>
</p:sld>
</file>

<file path=ppt/theme/theme1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914df6-f81e-44fe-8da3-31cef5d48baf" xsi:nil="true"/>
    <lcf76f155ced4ddcb4097134ff3c332f xmlns="49df82a0-becc-4ef3-aa57-ac77f6d841c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9037354106145AFF53138C3A15B5B" ma:contentTypeVersion="17" ma:contentTypeDescription="Crear nuevo documento." ma:contentTypeScope="" ma:versionID="c14e123252ae82666fbd2866e6fbdb99">
  <xsd:schema xmlns:xsd="http://www.w3.org/2001/XMLSchema" xmlns:xs="http://www.w3.org/2001/XMLSchema" xmlns:p="http://schemas.microsoft.com/office/2006/metadata/properties" xmlns:ns2="49df82a0-becc-4ef3-aa57-ac77f6d841c6" xmlns:ns3="28914df6-f81e-44fe-8da3-31cef5d48baf" targetNamespace="http://schemas.microsoft.com/office/2006/metadata/properties" ma:root="true" ma:fieldsID="7f2abced8826decc87f6846122c80dcc" ns2:_="" ns3:_="">
    <xsd:import namespace="49df82a0-becc-4ef3-aa57-ac77f6d841c6"/>
    <xsd:import namespace="28914df6-f81e-44fe-8da3-31cef5d48b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f82a0-becc-4ef3-aa57-ac77f6d841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5543dc2c-c282-4bcc-a46d-3826255963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14df6-f81e-44fe-8da3-31cef5d48ba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e318aa8-aa72-4d3f-82ad-179b0daa7511}" ma:internalName="TaxCatchAll" ma:showField="CatchAllData" ma:web="28914df6-f81e-44fe-8da3-31cef5d48b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E3F93E-46CE-4709-90F5-743461247A81}">
  <ds:schemaRefs>
    <ds:schemaRef ds:uri="http://schemas.microsoft.com/office/2006/metadata/properties"/>
    <ds:schemaRef ds:uri="http://www.w3.org/2000/xmlns/"/>
    <ds:schemaRef ds:uri="28914df6-f81e-44fe-8da3-31cef5d48baf"/>
    <ds:schemaRef ds:uri="http://www.w3.org/2001/XMLSchema-instance"/>
    <ds:schemaRef ds:uri="49df82a0-becc-4ef3-aa57-ac77f6d841c6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CA2171B-CD22-4571-B5E0-6855EC799ED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9df82a0-becc-4ef3-aa57-ac77f6d841c6"/>
    <ds:schemaRef ds:uri="28914df6-f81e-44fe-8da3-31cef5d48baf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066068-8CCD-4AC0-A0E7-63369DC6BB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56451</TotalTime>
  <Words>3007</Words>
  <Application>Microsoft Macintosh PowerPoint</Application>
  <PresentationFormat>Panorámica</PresentationFormat>
  <Paragraphs>438</Paragraphs>
  <Slides>49</Slides>
  <Notes>44</Notes>
  <HiddenSlides>7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6" baseType="lpstr">
      <vt:lpstr>Aharoni</vt:lpstr>
      <vt:lpstr>Arial</vt:lpstr>
      <vt:lpstr>Arial Narrow</vt:lpstr>
      <vt:lpstr>Calibri</vt:lpstr>
      <vt:lpstr>Helvetica</vt:lpstr>
      <vt:lpstr>Roboto</vt:lpstr>
      <vt:lpstr>isa-v2</vt:lpstr>
      <vt:lpstr>Pricing Intelligence: Rethinking IS Engineering in Volatile SaaS Environments</vt:lpstr>
      <vt:lpstr>SaaS Pricings</vt:lpstr>
      <vt:lpstr>Presentación de PowerPoint</vt:lpstr>
      <vt:lpstr>Presentación de PowerPoint</vt:lpstr>
      <vt:lpstr>Presentación de PowerPoint</vt:lpstr>
      <vt:lpstr>SaaS Pricings</vt:lpstr>
      <vt:lpstr>SaaS Pricings</vt:lpstr>
      <vt:lpstr>SaaS Pricings</vt:lpstr>
      <vt:lpstr>SaaS Pricings</vt:lpstr>
      <vt:lpstr>SaaS Pricings</vt:lpstr>
      <vt:lpstr>Presentación de PowerPoint</vt:lpstr>
      <vt:lpstr>Configuration Space</vt:lpstr>
      <vt:lpstr>Curse of Customization</vt:lpstr>
      <vt:lpstr>Curse of Customization</vt:lpstr>
      <vt:lpstr>Intelligent Pricing (iPricing)</vt:lpstr>
      <vt:lpstr>Intelligent Pricing (iPricing)</vt:lpstr>
      <vt:lpstr>Intelligent Pricing (iPricing)</vt:lpstr>
      <vt:lpstr>Presentación de PowerPoint</vt:lpstr>
      <vt:lpstr>Pricing Intelligence (PI)</vt:lpstr>
      <vt:lpstr>Presentación de PowerPoint</vt:lpstr>
      <vt:lpstr>Pricing Intelligence Interpretation Process (PIIP)</vt:lpstr>
      <vt:lpstr>Capability Layer</vt:lpstr>
      <vt:lpstr>Holistic Agent for Reasoning on Value and Economic analYsis (H.A.R.V.E.Y.)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Evaluation</vt:lpstr>
      <vt:lpstr>Methodology</vt:lpstr>
      <vt:lpstr>Methodology</vt:lpstr>
      <vt:lpstr>Current Coverage of PI Needs</vt:lpstr>
      <vt:lpstr>Strategy and Value Accuracy</vt:lpstr>
      <vt:lpstr>Strategy and Value Accuracy</vt:lpstr>
      <vt:lpstr>Strategy and Value Accuracy</vt:lpstr>
      <vt:lpstr>Strategy and Value Accuracy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Conclusions</vt:lpstr>
      <vt:lpstr>Pricing Intelligence: Rethinking IS Engineering in Volatile SaaS Environments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· SCORE presentation template</dc:title>
  <dc:subject/>
  <dc:creator>SCORE Lab · Universidad de Sevilla</dc:creator>
  <cp:keywords/>
  <dc:description/>
  <cp:lastModifiedBy>Francisco Javier Cavero López</cp:lastModifiedBy>
  <cp:revision>311</cp:revision>
  <dcterms:created xsi:type="dcterms:W3CDTF">2022-08-04T07:42:23Z</dcterms:created>
  <dcterms:modified xsi:type="dcterms:W3CDTF">2026-06-10T06:10:04Z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0x010100D009037354106145AFF53138C3A15B5B</vt:lpwstr>
  </property>
  <property fmtid="{D5CDD505-2E9C-101B-9397-08002B2CF9AE}" pid="3" name="MediaServiceImageTags">
    <vt:lpwstr/>
  </property>
</Properties>
</file>