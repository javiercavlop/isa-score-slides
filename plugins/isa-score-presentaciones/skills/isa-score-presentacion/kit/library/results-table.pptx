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2" r:id="rId4"/>
  </p:sldMasterIdLst>
  <p:notesMasterIdLst>
    <p:notesMasterId r:id="rId54"/>
  </p:notesMasterIdLst>
  <p:sldIdLst>
    <p:sldId id="256" r:id="rId1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ARVEY" id="{69C2311D-418E-054C-8B44-695FFBE02399}">
          <p14:sldIdLst>
            <p14:sldId id="1068"/>
            <p14:sldId id="1443"/>
            <p14:sldId id="1514"/>
            <p14:sldId id="1510"/>
            <p14:sldId id="1512"/>
            <p14:sldId id="1471"/>
            <p14:sldId id="1472"/>
            <p14:sldId id="1473"/>
            <p14:sldId id="1474"/>
            <p14:sldId id="1475"/>
            <p14:sldId id="1476"/>
            <p14:sldId id="1477"/>
            <p14:sldId id="1280"/>
            <p14:sldId id="1470"/>
            <p14:sldId id="1496"/>
            <p14:sldId id="1498"/>
            <p14:sldId id="1497"/>
            <p14:sldId id="1500"/>
            <p14:sldId id="1469"/>
            <p14:sldId id="1502"/>
            <p14:sldId id="1463"/>
            <p14:sldId id="1464"/>
            <p14:sldId id="1358"/>
            <p14:sldId id="1366"/>
            <p14:sldId id="1489"/>
            <p14:sldId id="1490"/>
            <p14:sldId id="1491"/>
            <p14:sldId id="1492"/>
            <p14:sldId id="1493"/>
            <p14:sldId id="1494"/>
            <p14:sldId id="1495"/>
            <p14:sldId id="1503"/>
            <p14:sldId id="1466"/>
            <p14:sldId id="1509"/>
            <p14:sldId id="1505"/>
            <p14:sldId id="1478"/>
            <p14:sldId id="1506"/>
            <p14:sldId id="1508"/>
            <p14:sldId id="1507"/>
            <p14:sldId id="1277"/>
            <p14:sldId id="1486"/>
            <p14:sldId id="1487"/>
            <p14:sldId id="1480"/>
            <p14:sldId id="1281"/>
            <p14:sldId id="1282"/>
            <p14:sldId id="1485"/>
            <p14:sldId id="1488"/>
            <p14:sldId id="1513"/>
            <p14:sldId id="123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NUEL RESINAS ARIAS DE REYNA" initials="MRADR" lastIdx="13" clrIdx="0">
    <p:extLst>
      <p:ext uri="{19B8F6BF-5375-455C-9EA6-DF929625EA0E}">
        <p15:presenceInfo xmlns:p15="http://schemas.microsoft.com/office/powerpoint/2012/main" userId="S::resinas@us.es::03212896-fb2f-4e95-9dcf-71df1a9d8c3f" providerId="AD"/>
      </p:ext>
    </p:extLst>
  </p:cmAuthor>
  <p:cmAuthor id="2" name="MARIA SALAS URBANO" initials="MSU" lastIdx="3" clrIdx="1">
    <p:extLst>
      <p:ext uri="{19B8F6BF-5375-455C-9EA6-DF929625EA0E}">
        <p15:presenceInfo xmlns:p15="http://schemas.microsoft.com/office/powerpoint/2012/main" userId="MARIA SALAS URBANO" providerId="None"/>
      </p:ext>
    </p:extLst>
  </p:cmAuthor>
  <p:cmAuthor id="3" name="CRISTINA CABANILLAS MACIAS" initials="CCM" lastIdx="1" clrIdx="2">
    <p:extLst>
      <p:ext uri="{19B8F6BF-5375-455C-9EA6-DF929625EA0E}">
        <p15:presenceInfo xmlns:p15="http://schemas.microsoft.com/office/powerpoint/2012/main" userId="S::cristinacabanillas@us.es::4532e087-6711-4360-a25b-0477b7cdd7f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1B3F"/>
    <a:srgbClr val="000000"/>
    <a:srgbClr val="9DD8E9"/>
    <a:srgbClr val="31859C"/>
    <a:srgbClr val="FFC68C"/>
    <a:srgbClr val="FFEEA3"/>
    <a:srgbClr val="68A5AB"/>
    <a:srgbClr val="DEBCDA"/>
    <a:srgbClr val="87999C"/>
    <a:srgbClr val="FF9D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767"/>
    <p:restoredTop sz="89066" autoAdjust="0"/>
  </p:normalViewPr>
  <p:slideViewPr>
    <p:cSldViewPr snapToGrid="0">
      <p:cViewPr varScale="1">
        <p:scale>
          <a:sx n="139" d="100"/>
          <a:sy n="139" d="100"/>
        </p:scale>
        <p:origin x="200" y="3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1.xml"/><Relationship Id="rId54" Type="http://schemas.openxmlformats.org/officeDocument/2006/relationships/notesMaster" Target="notesMasters/notesMaster1.xml"/><Relationship Id="rId55" Type="http://schemas.openxmlformats.org/officeDocument/2006/relationships/commentAuthors" Target="commentAuthors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7E1B5A-6D1D-4424-B231-BA9578D043E9}" type="datetimeFigureOut">
              <a:rPr lang="es-ES" smtClean="0"/>
              <a:t>10/6/26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DB20BF-CB95-4761-9F17-69DD67B574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5290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2747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AFCF6-EFA1-9446-8881-BC6657C215F2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38806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imagen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997765"/>
            <a:ext cx="12192000" cy="58602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1388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BD8D-0E47-C747-9A57-FEF8A3D0819A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99880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77D6-0971-FA40-A670-383B7DB29D60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58079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arriba y aba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947340"/>
            <a:ext cx="10972800" cy="28511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3798462"/>
            <a:ext cx="10972800" cy="29438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9485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C0E6A-D9EE-0441-88E9-DAF705FD65AB}" type="datetime1">
              <a:rPr lang="es-ES" smtClean="0"/>
              <a:t>10/6/26</a:t>
            </a:fld>
            <a:endParaRPr lang="en-GB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1624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3304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558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4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1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3E56-88EC-654C-B949-97EB307B43C5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70371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4859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ral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21013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75799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grande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433643"/>
            <a:ext cx="12192000" cy="1580728"/>
          </a:xfrm>
          <a:solidFill>
            <a:schemeClr val="tx1">
              <a:alpha val="34000"/>
            </a:schemeClr>
          </a:solidFill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46570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41133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ítulo y objetos encima del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4417" y="152400"/>
            <a:ext cx="10752667" cy="762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24419" y="1196975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24419" y="3865564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32135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28446" y="1544637"/>
            <a:ext cx="7127052" cy="2321807"/>
          </a:xfrm>
          <a:noFill/>
        </p:spPr>
        <p:txBody>
          <a:bodyPr/>
          <a:lstStyle>
            <a:lvl1pPr>
              <a:defRPr sz="4000" cap="none">
                <a:solidFill>
                  <a:schemeClr val="tx2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28446" y="4069645"/>
            <a:ext cx="7127052" cy="17526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6368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289954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9" descr="http://ftp.us.es/ftp/pub/Logos/marca-dos-tintas_300.gif"/>
          <p:cNvSpPr>
            <a:spLocks noChangeAspect="1" noChangeArrowheads="1"/>
          </p:cNvSpPr>
          <p:nvPr userDrawn="1"/>
        </p:nvSpPr>
        <p:spPr bwMode="auto">
          <a:xfrm>
            <a:off x="5545667" y="5645150"/>
            <a:ext cx="406400" cy="304800"/>
          </a:xfrm>
          <a:prstGeom prst="rect">
            <a:avLst/>
          </a:prstGeom>
          <a:noFill/>
        </p:spPr>
        <p:txBody>
          <a:bodyPr/>
          <a:lstStyle/>
          <a:p>
            <a:endParaRPr lang="es-ES" sz="1620"/>
          </a:p>
        </p:txBody>
      </p:sp>
    </p:spTree>
    <p:extLst>
      <p:ext uri="{BB962C8B-B14F-4D97-AF65-F5344CB8AC3E}">
        <p14:creationId xmlns:p14="http://schemas.microsoft.com/office/powerpoint/2010/main" val="128714681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33562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9D3B6-3A05-794A-B623-4160B776B823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3130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</p:sldLayoutIdLst>
  <p:hf sldNum="0" hdr="0" ftr="0" dt="0"/>
  <p:txStyles>
    <p:titleStyle>
      <a:lvl1pPr algn="ctr" defTabSz="457182" rtl="0" eaLnBrk="1" latinLnBrk="0" hangingPunct="1">
        <a:spcBef>
          <a:spcPct val="0"/>
        </a:spcBef>
        <a:buNone/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342887" indent="-342887" algn="l" defTabSz="457182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742920" indent="-285738" algn="l" defTabSz="457182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14295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136" indent="-228590" algn="l" defTabSz="457182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317" indent="-228590" algn="l" defTabSz="457182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499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68680" y="1288415"/>
            <a:ext cx="10332720" cy="502920"/>
          </a:xfrm>
          <a:prstGeom prst="rect">
            <a:avLst/>
          </a:prstGeom>
          <a:solidFill>
            <a:srgbClr val="7E00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1097280" y="1443863"/>
            <a:ext cx="18288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FFFFFF"/>
                </a:solidFill>
                <a:latin typeface="Roboto"/>
              </a:rPr>
              <a:t>Model</a:t>
            </a:r>
            <a:endParaRPr sz="1300" b="1" i="0" dirty="0">
              <a:solidFill>
                <a:srgbClr val="FFFFFF"/>
              </a:solidFill>
              <a:latin typeface="Roboto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840480" y="1443863"/>
            <a:ext cx="23774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Roboto"/>
              </a:rPr>
              <a:t>Median weighted F1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59" y="1443863"/>
            <a:ext cx="21945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Roboto"/>
              </a:rPr>
              <a:t>Value accuracy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1928495"/>
            <a:ext cx="10332720" cy="731520"/>
          </a:xfrm>
          <a:prstGeom prst="rect">
            <a:avLst/>
          </a:prstGeom>
          <a:solidFill>
            <a:srgbClr val="FFFFFF"/>
          </a:solidFill>
          <a:ln w="15240">
            <a:solidFill>
              <a:srgbClr val="F8B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2147951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E1E1E"/>
                </a:solidFill>
                <a:latin typeface="Roboto"/>
              </a:rPr>
              <a:t>GPT-5.1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2093087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7E0029"/>
                </a:solidFill>
                <a:latin typeface="Roboto"/>
              </a:rPr>
              <a:t>1.00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2093087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7E0029"/>
                </a:solidFill>
                <a:latin typeface="Roboto"/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2797175"/>
            <a:ext cx="10332720" cy="731520"/>
          </a:xfrm>
          <a:prstGeom prst="rect">
            <a:avLst/>
          </a:prstGeom>
          <a:solidFill>
            <a:srgbClr val="FFFFFF"/>
          </a:solidFill>
          <a:ln w="15240">
            <a:solidFill>
              <a:srgbClr val="F8B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97280" y="3016631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E1E1E"/>
                </a:solidFill>
                <a:latin typeface="Roboto"/>
              </a:rPr>
              <a:t>GPT-5-Mini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2961767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7E0029"/>
                </a:solidFill>
                <a:latin typeface="Roboto"/>
              </a:rPr>
              <a:t>0.97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2961767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7E0029"/>
                </a:solidFill>
                <a:latin typeface="Roboto"/>
              </a:rPr>
              <a:t>100%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" y="3665855"/>
            <a:ext cx="10332720" cy="731520"/>
          </a:xfrm>
          <a:prstGeom prst="rect">
            <a:avLst/>
          </a:prstGeom>
          <a:solidFill>
            <a:srgbClr val="FFFFFF"/>
          </a:solidFill>
          <a:ln w="15240">
            <a:solidFill>
              <a:srgbClr val="F8B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97280" y="3885311"/>
            <a:ext cx="1920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E1E1E"/>
                </a:solidFill>
                <a:latin typeface="Roboto"/>
              </a:rPr>
              <a:t>GPT-5-Nano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86200" y="3830446"/>
            <a:ext cx="2331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7E0029"/>
                </a:solidFill>
                <a:latin typeface="Roboto"/>
              </a:rPr>
              <a:t>0.86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3830446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7E0029"/>
                </a:solidFill>
                <a:latin typeface="Roboto"/>
              </a:rPr>
              <a:t>100%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8699" y="4955177"/>
            <a:ext cx="4405450" cy="1515292"/>
          </a:xfrm>
          <a:prstGeom prst="roundRect">
            <a:avLst/>
          </a:prstGeom>
          <a:solidFill>
            <a:srgbClr val="FDECF4"/>
          </a:solidFill>
          <a:ln w="15240">
            <a:solidFill>
              <a:srgbClr val="F8B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211581" y="5674773"/>
            <a:ext cx="4057105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1E1E1E"/>
                </a:solidFill>
                <a:latin typeface="Roboto"/>
              </a:rPr>
              <a:t>HARVEY remains reliable across LLM sizes, with stronger models closer to perfect strategy generation.</a:t>
            </a:r>
          </a:p>
        </p:txBody>
      </p:sp>
      <p:sp>
        <p:nvSpPr>
          <p:cNvPr id="33" name="Título 1">
            <a:extLst>
              <a:ext uri="{FF2B5EF4-FFF2-40B4-BE49-F238E27FC236}">
                <a16:creationId xmlns:a16="http://schemas.microsoft.com/office/drawing/2014/main" id="{7BC37D1C-3EF6-4F69-1F57-64FD88825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</p:spPr>
        <p:txBody>
          <a:bodyPr/>
          <a:lstStyle/>
          <a:p>
            <a:r>
              <a:rPr lang="es-ES" dirty="0" err="1"/>
              <a:t>Strategy</a:t>
            </a:r>
            <a:r>
              <a:rPr lang="es-ES" dirty="0"/>
              <a:t> and </a:t>
            </a:r>
            <a:r>
              <a:rPr lang="es-ES" dirty="0" err="1"/>
              <a:t>Value</a:t>
            </a:r>
            <a:r>
              <a:rPr lang="es-ES" dirty="0"/>
              <a:t> </a:t>
            </a:r>
            <a:r>
              <a:rPr lang="es-ES" dirty="0" err="1"/>
              <a:t>Accuracy</a:t>
            </a:r>
            <a:endParaRPr lang="es-ES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F0B2FD02-FD6E-608A-8393-69D503DD5249}"/>
              </a:ext>
            </a:extLst>
          </p:cNvPr>
          <p:cNvSpPr txBox="1"/>
          <p:nvPr/>
        </p:nvSpPr>
        <p:spPr>
          <a:xfrm>
            <a:off x="11725206" y="6396335"/>
            <a:ext cx="4667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E0029"/>
                </a:solidFill>
              </a:rPr>
              <a:t>16</a:t>
            </a:r>
          </a:p>
        </p:txBody>
      </p:sp>
      <p:sp>
        <p:nvSpPr>
          <p:cNvPr id="2" name="TextBox 18">
            <a:extLst>
              <a:ext uri="{FF2B5EF4-FFF2-40B4-BE49-F238E27FC236}">
                <a16:creationId xmlns:a16="http://schemas.microsoft.com/office/drawing/2014/main" id="{F0F5C56A-49CF-94A2-0A91-DB2B90090362}"/>
              </a:ext>
            </a:extLst>
          </p:cNvPr>
          <p:cNvSpPr txBox="1"/>
          <p:nvPr/>
        </p:nvSpPr>
        <p:spPr>
          <a:xfrm>
            <a:off x="1211581" y="5055415"/>
            <a:ext cx="4057105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1600" b="1" i="0" dirty="0">
                <a:solidFill>
                  <a:srgbClr val="1E1E1E"/>
                </a:solidFill>
                <a:latin typeface="Roboto"/>
              </a:rPr>
              <a:t>RQ2: </a:t>
            </a:r>
            <a:r>
              <a:rPr sz="1600" b="1" i="0" dirty="0">
                <a:solidFill>
                  <a:srgbClr val="1E1E1E"/>
                </a:solidFill>
                <a:latin typeface="Roboto"/>
              </a:rPr>
              <a:t>Can HARVEY generate the correct actions and parameters?</a:t>
            </a:r>
          </a:p>
        </p:txBody>
      </p:sp>
      <p:sp>
        <p:nvSpPr>
          <p:cNvPr id="3" name="Rounded Rectangle 26">
            <a:extLst>
              <a:ext uri="{FF2B5EF4-FFF2-40B4-BE49-F238E27FC236}">
                <a16:creationId xmlns:a16="http://schemas.microsoft.com/office/drawing/2014/main" id="{27D011C8-AFA1-F9EB-AB47-8604EC14E7F2}"/>
              </a:ext>
            </a:extLst>
          </p:cNvPr>
          <p:cNvSpPr/>
          <p:nvPr/>
        </p:nvSpPr>
        <p:spPr>
          <a:xfrm>
            <a:off x="6574969" y="4917127"/>
            <a:ext cx="4405450" cy="1515292"/>
          </a:xfrm>
          <a:prstGeom prst="roundRect">
            <a:avLst/>
          </a:prstGeom>
          <a:solidFill>
            <a:srgbClr val="FDECF4"/>
          </a:solidFill>
          <a:ln w="15240">
            <a:solidFill>
              <a:srgbClr val="F8B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28">
            <a:extLst>
              <a:ext uri="{FF2B5EF4-FFF2-40B4-BE49-F238E27FC236}">
                <a16:creationId xmlns:a16="http://schemas.microsoft.com/office/drawing/2014/main" id="{26608617-DCFF-D864-2150-6A6F5E00ACBC}"/>
              </a:ext>
            </a:extLst>
          </p:cNvPr>
          <p:cNvSpPr txBox="1"/>
          <p:nvPr/>
        </p:nvSpPr>
        <p:spPr>
          <a:xfrm>
            <a:off x="6758939" y="5712823"/>
            <a:ext cx="403969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s-ES" sz="1400" dirty="0" err="1">
                <a:solidFill>
                  <a:srgbClr val="1E1E1E"/>
                </a:solidFill>
                <a:latin typeface="Roboto"/>
              </a:rPr>
              <a:t>Matched</a:t>
            </a:r>
            <a:r>
              <a:rPr lang="es-ES" sz="1400" dirty="0">
                <a:solidFill>
                  <a:srgbClr val="1E1E1E"/>
                </a:solidFill>
                <a:latin typeface="Roboto"/>
              </a:rPr>
              <a:t> </a:t>
            </a:r>
            <a:r>
              <a:rPr lang="es-ES" sz="1400" dirty="0" err="1">
                <a:solidFill>
                  <a:srgbClr val="1E1E1E"/>
                </a:solidFill>
                <a:latin typeface="Roboto"/>
              </a:rPr>
              <a:t>parameters</a:t>
            </a:r>
            <a:r>
              <a:rPr lang="es-ES" sz="1400" dirty="0">
                <a:solidFill>
                  <a:srgbClr val="1E1E1E"/>
                </a:solidFill>
                <a:latin typeface="Roboto"/>
              </a:rPr>
              <a:t> are </a:t>
            </a:r>
            <a:r>
              <a:rPr lang="es-ES" sz="1400" dirty="0" err="1">
                <a:solidFill>
                  <a:srgbClr val="1E1E1E"/>
                </a:solidFill>
                <a:latin typeface="Roboto"/>
              </a:rPr>
              <a:t>instantiated</a:t>
            </a:r>
            <a:r>
              <a:rPr lang="es-ES" sz="1400" dirty="0">
                <a:solidFill>
                  <a:srgbClr val="1E1E1E"/>
                </a:solidFill>
                <a:latin typeface="Roboto"/>
              </a:rPr>
              <a:t> </a:t>
            </a:r>
            <a:r>
              <a:rPr lang="es-ES" sz="1400" dirty="0" err="1">
                <a:solidFill>
                  <a:srgbClr val="1E1E1E"/>
                </a:solidFill>
                <a:latin typeface="Roboto"/>
              </a:rPr>
              <a:t>correctly</a:t>
            </a:r>
            <a:r>
              <a:rPr lang="es-ES" sz="1400" dirty="0">
                <a:solidFill>
                  <a:srgbClr val="1E1E1E"/>
                </a:solidFill>
                <a:latin typeface="Roboto"/>
              </a:rPr>
              <a:t>: median </a:t>
            </a:r>
            <a:r>
              <a:rPr lang="es-ES" sz="1400" dirty="0" err="1">
                <a:solidFill>
                  <a:srgbClr val="1E1E1E"/>
                </a:solidFill>
                <a:latin typeface="Roboto"/>
              </a:rPr>
              <a:t>value-level</a:t>
            </a:r>
            <a:r>
              <a:rPr lang="es-ES" sz="1400" dirty="0">
                <a:solidFill>
                  <a:srgbClr val="1E1E1E"/>
                </a:solidFill>
                <a:latin typeface="Roboto"/>
              </a:rPr>
              <a:t> </a:t>
            </a:r>
            <a:r>
              <a:rPr lang="es-ES" sz="1400" dirty="0" err="1">
                <a:solidFill>
                  <a:srgbClr val="1E1E1E"/>
                </a:solidFill>
                <a:latin typeface="Roboto"/>
              </a:rPr>
              <a:t>accuracy</a:t>
            </a:r>
            <a:r>
              <a:rPr lang="es-ES" sz="1400" dirty="0">
                <a:solidFill>
                  <a:srgbClr val="1E1E1E"/>
                </a:solidFill>
                <a:latin typeface="Roboto"/>
              </a:rPr>
              <a:t> </a:t>
            </a:r>
            <a:r>
              <a:rPr lang="es-ES" sz="1400" dirty="0" err="1">
                <a:solidFill>
                  <a:srgbClr val="1E1E1E"/>
                </a:solidFill>
                <a:latin typeface="Roboto"/>
              </a:rPr>
              <a:t>is</a:t>
            </a:r>
            <a:r>
              <a:rPr lang="es-ES" sz="1400" dirty="0">
                <a:solidFill>
                  <a:srgbClr val="1E1E1E"/>
                </a:solidFill>
                <a:latin typeface="Roboto"/>
              </a:rPr>
              <a:t> 100%.</a:t>
            </a:r>
          </a:p>
        </p:txBody>
      </p:sp>
      <p:sp>
        <p:nvSpPr>
          <p:cNvPr id="6" name="TextBox 18">
            <a:extLst>
              <a:ext uri="{FF2B5EF4-FFF2-40B4-BE49-F238E27FC236}">
                <a16:creationId xmlns:a16="http://schemas.microsoft.com/office/drawing/2014/main" id="{0C22E024-7263-ADEF-1662-5A5235FEDF16}"/>
              </a:ext>
            </a:extLst>
          </p:cNvPr>
          <p:cNvSpPr txBox="1"/>
          <p:nvPr/>
        </p:nvSpPr>
        <p:spPr>
          <a:xfrm>
            <a:off x="6758939" y="5055415"/>
            <a:ext cx="403969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s-ES" sz="1600" b="1" dirty="0">
                <a:solidFill>
                  <a:srgbClr val="1E1E1E"/>
                </a:solidFill>
                <a:latin typeface="Roboto"/>
              </a:rPr>
              <a:t>RQ3: </a:t>
            </a:r>
            <a:r>
              <a:rPr lang="es-ES" sz="1600" b="1" dirty="0" err="1">
                <a:solidFill>
                  <a:srgbClr val="1E1E1E"/>
                </a:solidFill>
                <a:latin typeface="Roboto"/>
              </a:rPr>
              <a:t>When</a:t>
            </a:r>
            <a:r>
              <a:rPr lang="es-ES" sz="1600" b="1" dirty="0">
                <a:solidFill>
                  <a:srgbClr val="1E1E1E"/>
                </a:solidFill>
                <a:latin typeface="Roboto"/>
              </a:rPr>
              <a:t> </a:t>
            </a:r>
            <a:r>
              <a:rPr lang="es-ES" sz="1600" b="1" dirty="0" err="1">
                <a:solidFill>
                  <a:srgbClr val="1E1E1E"/>
                </a:solidFill>
                <a:latin typeface="Roboto"/>
              </a:rPr>
              <a:t>action</a:t>
            </a:r>
            <a:r>
              <a:rPr lang="es-ES" sz="1600" b="1" dirty="0">
                <a:solidFill>
                  <a:srgbClr val="1E1E1E"/>
                </a:solidFill>
                <a:latin typeface="Roboto"/>
              </a:rPr>
              <a:t> and </a:t>
            </a:r>
            <a:r>
              <a:rPr lang="es-ES" sz="1600" b="1" dirty="0" err="1">
                <a:solidFill>
                  <a:srgbClr val="1E1E1E"/>
                </a:solidFill>
                <a:latin typeface="Roboto"/>
              </a:rPr>
              <a:t>parameter</a:t>
            </a:r>
            <a:r>
              <a:rPr lang="es-ES" sz="1600" b="1" dirty="0">
                <a:solidFill>
                  <a:srgbClr val="1E1E1E"/>
                </a:solidFill>
                <a:latin typeface="Roboto"/>
              </a:rPr>
              <a:t> match, are </a:t>
            </a:r>
            <a:r>
              <a:rPr lang="es-ES" sz="1600" b="1" dirty="0" err="1">
                <a:solidFill>
                  <a:srgbClr val="1E1E1E"/>
                </a:solidFill>
                <a:latin typeface="Roboto"/>
              </a:rPr>
              <a:t>the</a:t>
            </a:r>
            <a:r>
              <a:rPr lang="es-ES" sz="1600" b="1" dirty="0">
                <a:solidFill>
                  <a:srgbClr val="1E1E1E"/>
                </a:solidFill>
                <a:latin typeface="Roboto"/>
              </a:rPr>
              <a:t> </a:t>
            </a:r>
            <a:r>
              <a:rPr lang="es-ES" sz="1600" b="1" dirty="0" err="1">
                <a:solidFill>
                  <a:srgbClr val="1E1E1E"/>
                </a:solidFill>
                <a:latin typeface="Roboto"/>
              </a:rPr>
              <a:t>values</a:t>
            </a:r>
            <a:r>
              <a:rPr lang="es-ES" sz="1600" b="1" dirty="0">
                <a:solidFill>
                  <a:srgbClr val="1E1E1E"/>
                </a:solidFill>
                <a:latin typeface="Roboto"/>
              </a:rPr>
              <a:t> </a:t>
            </a:r>
            <a:r>
              <a:rPr lang="es-ES" sz="1600" b="1" dirty="0" err="1">
                <a:solidFill>
                  <a:srgbClr val="1E1E1E"/>
                </a:solidFill>
                <a:latin typeface="Roboto"/>
              </a:rPr>
              <a:t>correct</a:t>
            </a:r>
            <a:r>
              <a:rPr lang="es-ES" sz="1600" b="1" dirty="0">
                <a:solidFill>
                  <a:srgbClr val="1E1E1E"/>
                </a:solidFill>
                <a:latin typeface="Roboto"/>
              </a:rPr>
              <a:t>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sa-v2">
  <a:themeElements>
    <a:clrScheme name="Colores Cristina">
      <a:dk1>
        <a:srgbClr val="141414"/>
      </a:dk1>
      <a:lt1>
        <a:sysClr val="window" lastClr="FFFFFF"/>
      </a:lt1>
      <a:dk2>
        <a:srgbClr val="A8003B"/>
      </a:dk2>
      <a:lt2>
        <a:srgbClr val="FFFFFF"/>
      </a:lt2>
      <a:accent1>
        <a:srgbClr val="A8003B"/>
      </a:accent1>
      <a:accent2>
        <a:srgbClr val="A8003B"/>
      </a:accent2>
      <a:accent3>
        <a:srgbClr val="00504D"/>
      </a:accent3>
      <a:accent4>
        <a:srgbClr val="00A19B"/>
      </a:accent4>
      <a:accent5>
        <a:srgbClr val="4BACC6"/>
      </a:accent5>
      <a:accent6>
        <a:srgbClr val="967140"/>
      </a:accent6>
      <a:hlink>
        <a:srgbClr val="0000FF"/>
      </a:hlink>
      <a:folHlink>
        <a:srgbClr val="800080"/>
      </a:folHlink>
    </a:clrScheme>
    <a:fontScheme name="Horizonte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8914df6-f81e-44fe-8da3-31cef5d48baf" xsi:nil="true"/>
    <lcf76f155ced4ddcb4097134ff3c332f xmlns="49df82a0-becc-4ef3-aa57-ac77f6d841c6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09037354106145AFF53138C3A15B5B" ma:contentTypeVersion="17" ma:contentTypeDescription="Crear nuevo documento." ma:contentTypeScope="" ma:versionID="c14e123252ae82666fbd2866e6fbdb99">
  <xsd:schema xmlns:xsd="http://www.w3.org/2001/XMLSchema" xmlns:xs="http://www.w3.org/2001/XMLSchema" xmlns:p="http://schemas.microsoft.com/office/2006/metadata/properties" xmlns:ns2="49df82a0-becc-4ef3-aa57-ac77f6d841c6" xmlns:ns3="28914df6-f81e-44fe-8da3-31cef5d48baf" targetNamespace="http://schemas.microsoft.com/office/2006/metadata/properties" ma:root="true" ma:fieldsID="7f2abced8826decc87f6846122c80dcc" ns2:_="" ns3:_="">
    <xsd:import namespace="49df82a0-becc-4ef3-aa57-ac77f6d841c6"/>
    <xsd:import namespace="28914df6-f81e-44fe-8da3-31cef5d48b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df82a0-becc-4ef3-aa57-ac77f6d841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n" ma:readOnly="false" ma:fieldId="{5cf76f15-5ced-4ddc-b409-7134ff3c332f}" ma:taxonomyMulti="true" ma:sspId="5543dc2c-c282-4bcc-a46d-38262559636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914df6-f81e-44fe-8da3-31cef5d48baf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e318aa8-aa72-4d3f-82ad-179b0daa7511}" ma:internalName="TaxCatchAll" ma:showField="CatchAllData" ma:web="28914df6-f81e-44fe-8da3-31cef5d48b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E3F93E-46CE-4709-90F5-743461247A81}">
  <ds:schemaRefs>
    <ds:schemaRef ds:uri="http://schemas.microsoft.com/office/2006/metadata/properties"/>
    <ds:schemaRef ds:uri="http://www.w3.org/2000/xmlns/"/>
    <ds:schemaRef ds:uri="28914df6-f81e-44fe-8da3-31cef5d48baf"/>
    <ds:schemaRef ds:uri="http://www.w3.org/2001/XMLSchema-instance"/>
    <ds:schemaRef ds:uri="49df82a0-becc-4ef3-aa57-ac77f6d841c6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CA2171B-CD22-4571-B5E0-6855EC799ED2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49df82a0-becc-4ef3-aa57-ac77f6d841c6"/>
    <ds:schemaRef ds:uri="28914df6-f81e-44fe-8da3-31cef5d48baf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B066068-8CCD-4AC0-A0E7-63369DC6BB0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56451</TotalTime>
  <Words>3007</Words>
  <Application>Microsoft Macintosh PowerPoint</Application>
  <PresentationFormat>Panorámica</PresentationFormat>
  <Paragraphs>438</Paragraphs>
  <Slides>49</Slides>
  <Notes>44</Notes>
  <HiddenSlides>7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49</vt:i4>
      </vt:variant>
    </vt:vector>
  </HeadingPairs>
  <TitlesOfParts>
    <vt:vector size="56" baseType="lpstr">
      <vt:lpstr>Aharoni</vt:lpstr>
      <vt:lpstr>Arial</vt:lpstr>
      <vt:lpstr>Arial Narrow</vt:lpstr>
      <vt:lpstr>Calibri</vt:lpstr>
      <vt:lpstr>Helvetica</vt:lpstr>
      <vt:lpstr>Roboto</vt:lpstr>
      <vt:lpstr>isa-v2</vt:lpstr>
      <vt:lpstr>Pricing Intelligence: Rethinking IS Engineering in Volatile SaaS Environments</vt:lpstr>
      <vt:lpstr>SaaS Pricings</vt:lpstr>
      <vt:lpstr>Presentación de PowerPoint</vt:lpstr>
      <vt:lpstr>Presentación de PowerPoint</vt:lpstr>
      <vt:lpstr>Presentación de PowerPoint</vt:lpstr>
      <vt:lpstr>SaaS Pricings</vt:lpstr>
      <vt:lpstr>SaaS Pricings</vt:lpstr>
      <vt:lpstr>SaaS Pricings</vt:lpstr>
      <vt:lpstr>SaaS Pricings</vt:lpstr>
      <vt:lpstr>SaaS Pricings</vt:lpstr>
      <vt:lpstr>Presentación de PowerPoint</vt:lpstr>
      <vt:lpstr>Configuration Space</vt:lpstr>
      <vt:lpstr>Curse of Customization</vt:lpstr>
      <vt:lpstr>Curse of Customization</vt:lpstr>
      <vt:lpstr>Intelligent Pricing (iPricing)</vt:lpstr>
      <vt:lpstr>Intelligent Pricing (iPricing)</vt:lpstr>
      <vt:lpstr>Intelligent Pricing (iPricing)</vt:lpstr>
      <vt:lpstr>Presentación de PowerPoint</vt:lpstr>
      <vt:lpstr>Pricing Intelligence (PI)</vt:lpstr>
      <vt:lpstr>Presentación de PowerPoint</vt:lpstr>
      <vt:lpstr>Pricing Intelligence Interpretation Process (PIIP)</vt:lpstr>
      <vt:lpstr>Capability Layer</vt:lpstr>
      <vt:lpstr>Holistic Agent for Reasoning on Value and Economic analYsis (H.A.R.V.E.Y.)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Evaluation</vt:lpstr>
      <vt:lpstr>Methodology</vt:lpstr>
      <vt:lpstr>Methodology</vt:lpstr>
      <vt:lpstr>Current Coverage of PI Needs</vt:lpstr>
      <vt:lpstr>Strategy and Value Accuracy</vt:lpstr>
      <vt:lpstr>Strategy and Value Accuracy</vt:lpstr>
      <vt:lpstr>Strategy and Value Accuracy</vt:lpstr>
      <vt:lpstr>Strategy and Value Accuracy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Conclusions</vt:lpstr>
      <vt:lpstr>Pricing Intelligence: Rethinking IS Engineering in Volatile SaaS Environments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ISA · SCORE presentation template</dc:title>
  <dc:subject/>
  <dc:creator>SCORE Lab · Universidad de Sevilla</dc:creator>
  <cp:keywords/>
  <dc:description/>
  <cp:lastModifiedBy>Francisco Javier Cavero López</cp:lastModifiedBy>
  <cp:revision>311</cp:revision>
  <dcterms:created xsi:type="dcterms:W3CDTF">2022-08-04T07:42:23Z</dcterms:created>
  <dcterms:modified xsi:type="dcterms:W3CDTF">2026-06-10T06:10:04Z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0x010100D009037354106145AFF53138C3A15B5B</vt:lpwstr>
  </property>
  <property fmtid="{D5CDD505-2E9C-101B-9397-08002B2CF9AE}" pid="3" name="MediaServiceImageTags">
    <vt:lpwstr/>
  </property>
</Properties>
</file>