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4"/>
    <p:sldMasterId id="2147483741" r:id="rId11"/>
  </p:sldMasterIdLst>
  <p:notesMasterIdLst>
    <p:notesMasterId r:id="rId54"/>
  </p:notesMasterIdLst>
  <p:sldIdLst>
    <p:sldId id="256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RVEY" id="{69C2311D-418E-054C-8B44-695FFBE02399}">
          <p14:sldIdLst>
            <p14:sldId id="1068"/>
            <p14:sldId id="1443"/>
            <p14:sldId id="1514"/>
            <p14:sldId id="1510"/>
            <p14:sldId id="1512"/>
            <p14:sldId id="1471"/>
            <p14:sldId id="1472"/>
            <p14:sldId id="1473"/>
            <p14:sldId id="1474"/>
            <p14:sldId id="1475"/>
            <p14:sldId id="1476"/>
            <p14:sldId id="1477"/>
            <p14:sldId id="1280"/>
            <p14:sldId id="1470"/>
            <p14:sldId id="1496"/>
            <p14:sldId id="1498"/>
            <p14:sldId id="1497"/>
            <p14:sldId id="1500"/>
            <p14:sldId id="1469"/>
            <p14:sldId id="1502"/>
            <p14:sldId id="1463"/>
            <p14:sldId id="1464"/>
            <p14:sldId id="1358"/>
            <p14:sldId id="1366"/>
            <p14:sldId id="1489"/>
            <p14:sldId id="1490"/>
            <p14:sldId id="1491"/>
            <p14:sldId id="1492"/>
            <p14:sldId id="1493"/>
            <p14:sldId id="1494"/>
            <p14:sldId id="1495"/>
            <p14:sldId id="1503"/>
            <p14:sldId id="1466"/>
            <p14:sldId id="1509"/>
            <p14:sldId id="1505"/>
            <p14:sldId id="1478"/>
            <p14:sldId id="1506"/>
            <p14:sldId id="1508"/>
            <p14:sldId id="1507"/>
            <p14:sldId id="1277"/>
            <p14:sldId id="1486"/>
            <p14:sldId id="1487"/>
            <p14:sldId id="1480"/>
            <p14:sldId id="1281"/>
            <p14:sldId id="1282"/>
            <p14:sldId id="1485"/>
            <p14:sldId id="1488"/>
            <p14:sldId id="1513"/>
            <p14:sldId id="12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RESINAS ARIAS DE REYNA" initials="MRADR" lastIdx="13" clrIdx="0">
    <p:extLst>
      <p:ext uri="{19B8F6BF-5375-455C-9EA6-DF929625EA0E}">
        <p15:presenceInfo xmlns:p15="http://schemas.microsoft.com/office/powerpoint/2012/main" userId="S::resinas@us.es::03212896-fb2f-4e95-9dcf-71df1a9d8c3f" providerId="AD"/>
      </p:ext>
    </p:extLst>
  </p:cmAuthor>
  <p:cmAuthor id="2" name="MARIA SALAS URBANO" initials="MSU" lastIdx="3" clrIdx="1">
    <p:extLst>
      <p:ext uri="{19B8F6BF-5375-455C-9EA6-DF929625EA0E}">
        <p15:presenceInfo xmlns:p15="http://schemas.microsoft.com/office/powerpoint/2012/main" userId="MARIA SALAS URBANO" providerId="None"/>
      </p:ext>
    </p:extLst>
  </p:cmAuthor>
  <p:cmAuthor id="3" name="CRISTINA CABANILLAS MACIAS" initials="CCM" lastIdx="1" clrIdx="2">
    <p:extLst>
      <p:ext uri="{19B8F6BF-5375-455C-9EA6-DF929625EA0E}">
        <p15:presenceInfo xmlns:p15="http://schemas.microsoft.com/office/powerpoint/2012/main" userId="S::cristinacabanillas@us.es::4532e087-6711-4360-a25b-0477b7cdd7f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1B3F"/>
    <a:srgbClr val="000000"/>
    <a:srgbClr val="9DD8E9"/>
    <a:srgbClr val="31859C"/>
    <a:srgbClr val="FFC68C"/>
    <a:srgbClr val="FFEEA3"/>
    <a:srgbClr val="68A5AB"/>
    <a:srgbClr val="DEBCDA"/>
    <a:srgbClr val="87999C"/>
    <a:srgbClr val="FF9D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67"/>
    <p:restoredTop sz="89066" autoAdjust="0"/>
  </p:normalViewPr>
  <p:slideViewPr>
    <p:cSldViewPr snapToGrid="0">
      <p:cViewPr varScale="1">
        <p:scale>
          <a:sx n="139" d="100"/>
          <a:sy n="139" d="100"/>
        </p:scale>
        <p:origin x="200" y="3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Master" Target="slideMasters/slideMaster2.xml"/><Relationship Id="rId12" Type="http://schemas.openxmlformats.org/officeDocument/2006/relationships/slide" Target="slides/slide1.xml"/><Relationship Id="rId54" Type="http://schemas.openxmlformats.org/officeDocument/2006/relationships/notesMaster" Target="notesMasters/notesMaster1.xml"/><Relationship Id="rId55" Type="http://schemas.openxmlformats.org/officeDocument/2006/relationships/commentAuthors" Target="commentAuthors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E1B5A-6D1D-4424-B231-BA9578D043E9}" type="datetimeFigureOut">
              <a:rPr lang="es-ES" smtClean="0"/>
              <a:t>10/6/26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B20BF-CB95-4761-9F17-69DD67B574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29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10/6/26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1/2/26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1/2/26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1/2/26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1/2/26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1/2/26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5.xml"/><Relationship Id="rId20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1/2/26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5" r:id="rId14"/>
    <p:sldLayoutId id="2147483736" r:id="rId15"/>
    <p:sldLayoutId id="2147483737" r:id="rId16"/>
    <p:sldLayoutId id="2147483738" r:id="rId17"/>
    <p:sldLayoutId id="2147483739" r:id="rId18"/>
    <p:sldLayoutId id="2147483740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F4F99CF6-CFEA-19D2-7484-214A55701519}"/>
              </a:ext>
            </a:extLst>
          </p:cNvPr>
          <p:cNvSpPr txBox="1"/>
          <p:nvPr/>
        </p:nvSpPr>
        <p:spPr>
          <a:xfrm>
            <a:off x="442048" y="2890391"/>
            <a:ext cx="1130790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“</a:t>
            </a:r>
            <a:r>
              <a:rPr lang="en-US" sz="3200" b="1" dirty="0"/>
              <a:t>The best software is the software that knows exactly </a:t>
            </a:r>
            <a:r>
              <a:rPr lang="en-US" sz="3200" b="1" dirty="0">
                <a:solidFill>
                  <a:srgbClr val="FF0000"/>
                </a:solidFill>
              </a:rPr>
              <a:t>what you need</a:t>
            </a:r>
            <a:r>
              <a:rPr lang="en-US" sz="3200" b="1" dirty="0"/>
              <a:t>, </a:t>
            </a:r>
          </a:p>
          <a:p>
            <a:r>
              <a:rPr lang="en-US" sz="3200" b="1" dirty="0">
                <a:solidFill>
                  <a:srgbClr val="FF0000"/>
                </a:solidFill>
              </a:rPr>
              <a:t>when you need it</a:t>
            </a:r>
            <a:r>
              <a:rPr lang="en-US" sz="3200" b="1" dirty="0"/>
              <a:t>, and delivers precisely that—no more, no less.</a:t>
            </a:r>
            <a:r>
              <a:rPr lang="en-US" sz="3200" dirty="0"/>
              <a:t>”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94B55833-72D5-651F-AD33-14D65B0AB84F}"/>
              </a:ext>
            </a:extLst>
          </p:cNvPr>
          <p:cNvCxnSpPr>
            <a:cxnSpLocks/>
          </p:cNvCxnSpPr>
          <p:nvPr/>
        </p:nvCxnSpPr>
        <p:spPr>
          <a:xfrm flipH="1">
            <a:off x="6918960" y="4267200"/>
            <a:ext cx="4572000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229B1C10-D1F4-9483-51F2-7E6624D1B70F}"/>
              </a:ext>
            </a:extLst>
          </p:cNvPr>
          <p:cNvSpPr txBox="1"/>
          <p:nvPr/>
        </p:nvSpPr>
        <p:spPr>
          <a:xfrm>
            <a:off x="6108664" y="4480560"/>
            <a:ext cx="5641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David Heinemeier Hansson</a:t>
            </a:r>
            <a:r>
              <a:rPr lang="en-US" sz="2000" dirty="0"/>
              <a:t> (co-creator of Ruby on Rails)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7DECD5F-A59A-06A8-083D-2F68CA4EC397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564472037"/>
      </p:ext>
    </p:extLst>
  </p:cSld>
  <p:clrMapOvr>
    <a:masterClrMapping/>
  </p:clrMapOvr>
</p:sld>
</file>

<file path=ppt/theme/theme1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914df6-f81e-44fe-8da3-31cef5d48baf" xsi:nil="true"/>
    <lcf76f155ced4ddcb4097134ff3c332f xmlns="49df82a0-becc-4ef3-aa57-ac77f6d841c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9037354106145AFF53138C3A15B5B" ma:contentTypeVersion="17" ma:contentTypeDescription="Crear nuevo documento." ma:contentTypeScope="" ma:versionID="c14e123252ae82666fbd2866e6fbdb99">
  <xsd:schema xmlns:xsd="http://www.w3.org/2001/XMLSchema" xmlns:xs="http://www.w3.org/2001/XMLSchema" xmlns:p="http://schemas.microsoft.com/office/2006/metadata/properties" xmlns:ns2="49df82a0-becc-4ef3-aa57-ac77f6d841c6" xmlns:ns3="28914df6-f81e-44fe-8da3-31cef5d48baf" targetNamespace="http://schemas.microsoft.com/office/2006/metadata/properties" ma:root="true" ma:fieldsID="7f2abced8826decc87f6846122c80dcc" ns2:_="" ns3:_="">
    <xsd:import namespace="49df82a0-becc-4ef3-aa57-ac77f6d841c6"/>
    <xsd:import namespace="28914df6-f81e-44fe-8da3-31cef5d48b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f82a0-becc-4ef3-aa57-ac77f6d841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5543dc2c-c282-4bcc-a46d-382625596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14df6-f81e-44fe-8da3-31cef5d48b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e318aa8-aa72-4d3f-82ad-179b0daa7511}" ma:internalName="TaxCatchAll" ma:showField="CatchAllData" ma:web="28914df6-f81e-44fe-8da3-31cef5d48b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E3F93E-46CE-4709-90F5-743461247A81}">
  <ds:schemaRefs>
    <ds:schemaRef ds:uri="http://schemas.microsoft.com/office/2006/metadata/properties"/>
    <ds:schemaRef ds:uri="http://www.w3.org/2000/xmlns/"/>
    <ds:schemaRef ds:uri="28914df6-f81e-44fe-8da3-31cef5d48baf"/>
    <ds:schemaRef ds:uri="http://www.w3.org/2001/XMLSchema-instance"/>
    <ds:schemaRef ds:uri="49df82a0-becc-4ef3-aa57-ac77f6d841c6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CA2171B-CD22-4571-B5E0-6855EC799ED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9df82a0-becc-4ef3-aa57-ac77f6d841c6"/>
    <ds:schemaRef ds:uri="28914df6-f81e-44fe-8da3-31cef5d48baf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066068-8CCD-4AC0-A0E7-63369DC6BB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56451</TotalTime>
  <Words>3007</Words>
  <Application>Microsoft Macintosh PowerPoint</Application>
  <PresentationFormat>Panorámica</PresentationFormat>
  <Paragraphs>438</Paragraphs>
  <Slides>49</Slides>
  <Notes>44</Notes>
  <HiddenSlides>7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6" baseType="lpstr">
      <vt:lpstr>Aharoni</vt:lpstr>
      <vt:lpstr>Arial</vt:lpstr>
      <vt:lpstr>Arial Narrow</vt:lpstr>
      <vt:lpstr>Calibri</vt:lpstr>
      <vt:lpstr>Helvetica</vt:lpstr>
      <vt:lpstr>Roboto</vt:lpstr>
      <vt:lpstr>isa-v2</vt:lpstr>
      <vt:lpstr>Pricing Intelligence: Rethinking IS Engineering in Volatile SaaS Environments</vt:lpstr>
      <vt:lpstr>SaaS Pricings</vt:lpstr>
      <vt:lpstr>Presentación de PowerPoint</vt:lpstr>
      <vt:lpstr>Presentación de PowerPoint</vt:lpstr>
      <vt:lpstr>Presentación de PowerPoint</vt:lpstr>
      <vt:lpstr>SaaS Pricings</vt:lpstr>
      <vt:lpstr>SaaS Pricings</vt:lpstr>
      <vt:lpstr>SaaS Pricings</vt:lpstr>
      <vt:lpstr>SaaS Pricings</vt:lpstr>
      <vt:lpstr>SaaS Pricings</vt:lpstr>
      <vt:lpstr>Presentación de PowerPoint</vt:lpstr>
      <vt:lpstr>Configuration Space</vt:lpstr>
      <vt:lpstr>Curse of Customization</vt:lpstr>
      <vt:lpstr>Curse of Customization</vt:lpstr>
      <vt:lpstr>Intelligent Pricing (iPricing)</vt:lpstr>
      <vt:lpstr>Intelligent Pricing (iPricing)</vt:lpstr>
      <vt:lpstr>Intelligent Pricing (iPricing)</vt:lpstr>
      <vt:lpstr>Presentación de PowerPoint</vt:lpstr>
      <vt:lpstr>Pricing Intelligence (PI)</vt:lpstr>
      <vt:lpstr>Presentación de PowerPoint</vt:lpstr>
      <vt:lpstr>Pricing Intelligence Interpretation Process (PIIP)</vt:lpstr>
      <vt:lpstr>Capability Layer</vt:lpstr>
      <vt:lpstr>Holistic Agent for Reasoning on Value and Economic analYsis (H.A.R.V.E.Y.)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Evaluation</vt:lpstr>
      <vt:lpstr>Methodology</vt:lpstr>
      <vt:lpstr>Methodology</vt:lpstr>
      <vt:lpstr>Current Coverage of PI Needs</vt:lpstr>
      <vt:lpstr>Strategy and Value Accuracy</vt:lpstr>
      <vt:lpstr>Strategy and Value Accuracy</vt:lpstr>
      <vt:lpstr>Strategy and Value Accuracy</vt:lpstr>
      <vt:lpstr>Strategy and Value Accuracy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Conclusions</vt:lpstr>
      <vt:lpstr>Pricing Intelligence: Rethinking IS Engineering in Volatile SaaS Environments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· SCORE presentation template</dc:title>
  <dc:subject/>
  <dc:creator>SCORE Lab · Universidad de Sevilla</dc:creator>
  <cp:keywords/>
  <dc:description/>
  <cp:lastModifiedBy>Francisco Javier Cavero López</cp:lastModifiedBy>
  <cp:revision>311</cp:revision>
  <dcterms:created xsi:type="dcterms:W3CDTF">2022-08-04T07:42:23Z</dcterms:created>
  <dcterms:modified xsi:type="dcterms:W3CDTF">2026-06-10T06:10:04Z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0x010100D009037354106145AFF53138C3A15B5B</vt:lpwstr>
  </property>
  <property fmtid="{D5CDD505-2E9C-101B-9397-08002B2CF9AE}" pid="3" name="MediaServiceImageTags">
    <vt:lpwstr/>
  </property>
</Properties>
</file>