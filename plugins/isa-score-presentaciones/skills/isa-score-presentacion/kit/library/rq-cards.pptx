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815340" y="1308028"/>
            <a:ext cx="10561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9932" y="1527484"/>
            <a:ext cx="868680" cy="438912"/>
          </a:xfrm>
          <a:prstGeom prst="round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9780" y="160978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7E0029"/>
                </a:solidFill>
                <a:latin typeface="Roboto"/>
              </a:rPr>
              <a:t>Tool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4340" y="1436044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Roboto"/>
              </a:rPr>
              <a:t>To what extent do current PI tools cover the elicited PI tasks?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4340" y="1810948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Roboto"/>
              </a:rPr>
              <a:t>Characterizes the current scope of PI support and exposes open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40" y="2844220"/>
            <a:ext cx="10561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9932" y="3063676"/>
            <a:ext cx="868680" cy="438912"/>
          </a:xfrm>
          <a:prstGeom prst="round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9780" y="3145973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7E0029"/>
                </a:solidFill>
                <a:latin typeface="Roboto"/>
              </a:rPr>
              <a:t>Strategy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4340" y="2972236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E1E1E"/>
                </a:solidFill>
                <a:latin typeface="Roboto"/>
              </a:rPr>
              <a:t>Can HARVEY generate the correct actions and parameters?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4340" y="334714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555555"/>
                </a:solidFill>
                <a:latin typeface="Roboto"/>
              </a:rPr>
              <a:t>Measures structural correctness with weighted precision, recall and F1.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340" y="4380412"/>
            <a:ext cx="10561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79932" y="4599868"/>
            <a:ext cx="868680" cy="438912"/>
          </a:xfrm>
          <a:prstGeom prst="round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RQ3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9780" y="4668447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7E0029"/>
                </a:solidFill>
                <a:latin typeface="Roboto"/>
              </a:rPr>
              <a:t>Value 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4340" y="4508427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E1E1E"/>
                </a:solidFill>
                <a:latin typeface="Roboto"/>
              </a:rPr>
              <a:t>When action and parameter match, are the values correct?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4340" y="4883332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Roboto"/>
              </a:rPr>
              <a:t>Isolates grounding errors from upstream strategy-selection errors.</a:t>
            </a: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B8943C95-E3E0-3851-EAA8-45F09125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 err="1"/>
              <a:t>Evaluation</a:t>
            </a:r>
            <a:endParaRPr lang="es-ES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0887025-8EB1-2CFE-8A0E-76A21DE4683B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