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822960" y="1347851"/>
            <a:ext cx="3931920" cy="4389120"/>
          </a:xfrm>
          <a:prstGeom prst="roundRect">
            <a:avLst/>
          </a:prstGeom>
          <a:solidFill>
            <a:srgbClr val="FDECF4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759331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7E0029"/>
                </a:solidFill>
                <a:latin typeface="Roboto"/>
              </a:rPr>
              <a:t>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7256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1E1E1E"/>
                </a:solidFill>
                <a:latin typeface="Roboto"/>
              </a:rPr>
              <a:t>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176651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Roboto"/>
              </a:rPr>
              <a:t>30 answerable templates
26 non-answerable templates
56 curated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685411"/>
            <a:ext cx="3108960" cy="384048"/>
          </a:xfrm>
          <a:prstGeom prst="round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Coverage = |AT| / |T2|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ED054E1-51FB-C496-4600-5CF73CF6388D}"/>
              </a:ext>
            </a:extLst>
          </p:cNvPr>
          <p:cNvGrpSpPr/>
          <p:nvPr/>
        </p:nvGrpSpPr>
        <p:grpSpPr>
          <a:xfrm>
            <a:off x="5166360" y="1347851"/>
            <a:ext cx="6172200" cy="1828800"/>
            <a:chOff x="5166360" y="1347851"/>
            <a:chExt cx="6172200" cy="1828800"/>
          </a:xfrm>
        </p:grpSpPr>
        <p:sp>
          <p:nvSpPr>
            <p:cNvPr id="16" name="Rounded Rectangle 15"/>
            <p:cNvSpPr/>
            <p:nvPr/>
          </p:nvSpPr>
          <p:spPr>
            <a:xfrm>
              <a:off x="5166360" y="1347851"/>
              <a:ext cx="6172200" cy="18288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F8B2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86400" y="1558163"/>
              <a:ext cx="18288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>
                  <a:solidFill>
                    <a:srgbClr val="7E0029"/>
                  </a:solidFill>
                  <a:latin typeface="Roboto"/>
                </a:rPr>
                <a:t>Interpretation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0" y="1987931"/>
              <a:ext cx="5440680" cy="8686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400"/>
                </a:spcAft>
                <a:defRPr sz="1600">
                  <a:solidFill>
                    <a:srgbClr val="1E1E1E"/>
                  </a:solidFill>
                  <a:latin typeface="Roboto"/>
                </a:defRPr>
              </a:pPr>
              <a:r>
                <a:rPr dirty="0"/>
                <a:t>Not only a HARVEY limitation</a:t>
              </a:r>
            </a:p>
            <a:p>
              <a:pPr>
                <a:spcAft>
                  <a:spcPts val="400"/>
                </a:spcAft>
                <a:defRPr sz="1600">
                  <a:solidFill>
                    <a:srgbClr val="1E1E1E"/>
                  </a:solidFill>
                  <a:latin typeface="Roboto"/>
                </a:defRPr>
              </a:pPr>
              <a:r>
                <a:rPr dirty="0"/>
                <a:t>An empirical map of PI support</a:t>
              </a:r>
            </a:p>
            <a:p>
              <a:pPr>
                <a:spcAft>
                  <a:spcPts val="400"/>
                </a:spcAft>
                <a:defRPr sz="1600">
                  <a:solidFill>
                    <a:srgbClr val="1E1E1E"/>
                  </a:solidFill>
                  <a:latin typeface="Roboto"/>
                </a:defRPr>
              </a:pPr>
              <a:r>
                <a:rPr dirty="0"/>
                <a:t>Shows where new analytical primitives are needed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DE1920C-6A75-42CD-C49D-64A1FC311A25}"/>
              </a:ext>
            </a:extLst>
          </p:cNvPr>
          <p:cNvGrpSpPr/>
          <p:nvPr/>
        </p:nvGrpSpPr>
        <p:grpSpPr>
          <a:xfrm>
            <a:off x="5166360" y="3450971"/>
            <a:ext cx="6172200" cy="2286000"/>
            <a:chOff x="5166360" y="3450971"/>
            <a:chExt cx="6172200" cy="2286000"/>
          </a:xfrm>
        </p:grpSpPr>
        <p:sp>
          <p:nvSpPr>
            <p:cNvPr id="19" name="Rounded Rectangle 18"/>
            <p:cNvSpPr/>
            <p:nvPr/>
          </p:nvSpPr>
          <p:spPr>
            <a:xfrm>
              <a:off x="5166360" y="3450971"/>
              <a:ext cx="6172200" cy="22860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F8B2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0" y="3661283"/>
              <a:ext cx="18288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>
                  <a:solidFill>
                    <a:srgbClr val="7E0029"/>
                  </a:solidFill>
                  <a:latin typeface="Roboto"/>
                </a:rPr>
                <a:t>Open gaps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486400" y="4182491"/>
              <a:ext cx="1417320" cy="365760"/>
            </a:xfrm>
            <a:prstGeom prst="roundRect">
              <a:avLst/>
            </a:prstGeom>
            <a:solidFill>
              <a:srgbClr val="4299A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Comparative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223760" y="4182491"/>
              <a:ext cx="1417320" cy="365760"/>
            </a:xfrm>
            <a:prstGeom prst="roundRect">
              <a:avLst/>
            </a:prstGeom>
            <a:solidFill>
              <a:srgbClr val="60AE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What-if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61120" y="4182491"/>
              <a:ext cx="1417320" cy="365760"/>
            </a:xfrm>
            <a:prstGeom prst="roundRect">
              <a:avLst/>
            </a:prstGeom>
            <a:solidFill>
              <a:srgbClr val="F49F4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Predictive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0" y="4749419"/>
              <a:ext cx="1417320" cy="365760"/>
            </a:xfrm>
            <a:prstGeom prst="roundRect">
              <a:avLst/>
            </a:prstGeom>
            <a:solidFill>
              <a:srgbClr val="6A88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Subscription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223760" y="4749419"/>
              <a:ext cx="1417320" cy="365760"/>
            </a:xfrm>
            <a:prstGeom prst="roundRect">
              <a:avLst/>
            </a:prstGeom>
            <a:solidFill>
              <a:srgbClr val="CF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Cost-aware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0" y="5188331"/>
              <a:ext cx="5394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555555"/>
                  </a:solidFill>
                  <a:latin typeface="Roboto"/>
                </a:rPr>
                <a:t>These categories become the research agenda for the next PI tools.</a:t>
              </a:r>
            </a:p>
          </p:txBody>
        </p:sp>
      </p:grpSp>
      <p:sp>
        <p:nvSpPr>
          <p:cNvPr id="27" name="Título 1">
            <a:extLst>
              <a:ext uri="{FF2B5EF4-FFF2-40B4-BE49-F238E27FC236}">
                <a16:creationId xmlns:a16="http://schemas.microsoft.com/office/drawing/2014/main" id="{3B690FC7-3D46-B009-CA8C-F7F2BAAE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Current </a:t>
            </a:r>
            <a:r>
              <a:rPr lang="es-ES" dirty="0" err="1"/>
              <a:t>Coverage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PI Needs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CCA55C0-FE3B-93CD-8D95-18EA574A18CA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