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30/6/25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2326994-F073-37D4-FF06-697F330C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C20E204-E898-B186-1AA1-C3B2E7A88A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2403" y="10199"/>
            <a:ext cx="5919596" cy="6858000"/>
          </a:xfrm>
          <a:prstGeom prst="rect">
            <a:avLst/>
          </a:prstGeom>
          <a:solidFill>
            <a:srgbClr val="F8D0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78948BA-83F0-7A0E-6841-35E4052F0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0"/>
            <a:ext cx="6272402" cy="6858000"/>
          </a:xfrm>
          <a:prstGeom prst="rect">
            <a:avLst/>
          </a:prstGeom>
          <a:solidFill>
            <a:srgbClr val="FFF1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72CBE36-5E9B-9269-5C24-EA6223B78910}"/>
              </a:ext>
            </a:extLst>
          </p:cNvPr>
          <p:cNvSpPr txBox="1">
            <a:spLocks/>
          </p:cNvSpPr>
          <p:nvPr/>
        </p:nvSpPr>
        <p:spPr>
          <a:xfrm>
            <a:off x="2195627" y="131993"/>
            <a:ext cx="8479098" cy="111512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Previous analysis on the support of industry solutions to pricing-driven </a:t>
            </a:r>
            <a:r>
              <a:rPr lang="en-US" sz="2800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devops</a:t>
            </a:r>
            <a:endParaRPr lang="en-US" sz="2800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4CD5C5B-3DE8-2B5A-88FC-592314C5D060}"/>
              </a:ext>
            </a:extLst>
          </p:cNvPr>
          <p:cNvGrpSpPr/>
          <p:nvPr/>
        </p:nvGrpSpPr>
        <p:grpSpPr>
          <a:xfrm>
            <a:off x="380494" y="1360404"/>
            <a:ext cx="2340001" cy="2340000"/>
            <a:chOff x="3822812" y="2711339"/>
            <a:chExt cx="1200178" cy="1229641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37F76BA5-DFD5-7A61-5724-A89E072E7CBD}"/>
                </a:ext>
              </a:extLst>
            </p:cNvPr>
            <p:cNvSpPr/>
            <p:nvPr/>
          </p:nvSpPr>
          <p:spPr>
            <a:xfrm>
              <a:off x="3822812" y="2711339"/>
              <a:ext cx="1200178" cy="1229641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9F1B3B3-3811-2A92-7E6F-116B5C5D6CD6}"/>
                </a:ext>
              </a:extLst>
            </p:cNvPr>
            <p:cNvSpPr/>
            <p:nvPr/>
          </p:nvSpPr>
          <p:spPr>
            <a:xfrm>
              <a:off x="3825846" y="2845853"/>
              <a:ext cx="1197144" cy="1018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18</a:t>
              </a:r>
              <a:endParaRPr lang="en-US" sz="1600" b="1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feature toggling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tools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pic>
        <p:nvPicPr>
          <p:cNvPr id="19" name="Imagen 18" descr="Logotipo&#10;&#10;El contenido generado por IA puede ser incorrecto.">
            <a:extLst>
              <a:ext uri="{FF2B5EF4-FFF2-40B4-BE49-F238E27FC236}">
                <a16:creationId xmlns:a16="http://schemas.microsoft.com/office/drawing/2014/main" id="{3A6EA57F-3033-E036-6328-DC2B4A1DC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1" y="5245941"/>
            <a:ext cx="1846700" cy="709092"/>
          </a:xfrm>
          <a:prstGeom prst="rect">
            <a:avLst/>
          </a:prstGeom>
        </p:spPr>
      </p:pic>
      <p:pic>
        <p:nvPicPr>
          <p:cNvPr id="27" name="Imagen 26" descr="Imagen que contiene Flecha&#10;&#10;El contenido generado por IA puede ser incorrecto.">
            <a:extLst>
              <a:ext uri="{FF2B5EF4-FFF2-40B4-BE49-F238E27FC236}">
                <a16:creationId xmlns:a16="http://schemas.microsoft.com/office/drawing/2014/main" id="{D52CFE9A-5642-E36C-2132-7457929D8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537" y="5418887"/>
            <a:ext cx="2227743" cy="344537"/>
          </a:xfrm>
          <a:prstGeom prst="rect">
            <a:avLst/>
          </a:prstGeom>
        </p:spPr>
      </p:pic>
      <p:pic>
        <p:nvPicPr>
          <p:cNvPr id="31" name="Imagen 30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D1C482B8-2002-A3FF-681F-5FE1D96BE9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21" b="34770"/>
          <a:stretch>
            <a:fillRect/>
          </a:stretch>
        </p:blipFill>
        <p:spPr>
          <a:xfrm>
            <a:off x="1204443" y="4843307"/>
            <a:ext cx="2520159" cy="436961"/>
          </a:xfrm>
          <a:prstGeom prst="rect">
            <a:avLst/>
          </a:prstGeom>
        </p:spPr>
      </p:pic>
      <p:pic>
        <p:nvPicPr>
          <p:cNvPr id="35" name="Imagen 34" descr="Logotipo&#10;&#10;El contenido generado por IA puede ser incorrecto.">
            <a:extLst>
              <a:ext uri="{FF2B5EF4-FFF2-40B4-BE49-F238E27FC236}">
                <a16:creationId xmlns:a16="http://schemas.microsoft.com/office/drawing/2014/main" id="{1823295B-6816-3115-E0DB-FF2C965E28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8" y="4262054"/>
            <a:ext cx="2537907" cy="589157"/>
          </a:xfrm>
          <a:prstGeom prst="rect">
            <a:avLst/>
          </a:prstGeom>
        </p:spPr>
      </p:pic>
      <p:pic>
        <p:nvPicPr>
          <p:cNvPr id="37" name="Imagen 36" descr="Logotipo&#10;&#10;El contenido generado por IA puede ser incorrecto.">
            <a:extLst>
              <a:ext uri="{FF2B5EF4-FFF2-40B4-BE49-F238E27FC236}">
                <a16:creationId xmlns:a16="http://schemas.microsoft.com/office/drawing/2014/main" id="{C4065A5A-DD2B-B0BF-EC1C-A65D8825DD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677" y="5403352"/>
            <a:ext cx="1936329" cy="505353"/>
          </a:xfrm>
          <a:prstGeom prst="rect">
            <a:avLst/>
          </a:prstGeom>
        </p:spPr>
      </p:pic>
      <p:grpSp>
        <p:nvGrpSpPr>
          <p:cNvPr id="46" name="Grupo 45">
            <a:extLst>
              <a:ext uri="{FF2B5EF4-FFF2-40B4-BE49-F238E27FC236}">
                <a16:creationId xmlns:a16="http://schemas.microsoft.com/office/drawing/2014/main" id="{AC82099D-83FA-DD09-29DD-E61B9FA1F632}"/>
              </a:ext>
            </a:extLst>
          </p:cNvPr>
          <p:cNvGrpSpPr/>
          <p:nvPr/>
        </p:nvGrpSpPr>
        <p:grpSpPr>
          <a:xfrm>
            <a:off x="6619238" y="1301933"/>
            <a:ext cx="6103047" cy="2563959"/>
            <a:chOff x="6240098" y="1301933"/>
            <a:chExt cx="6103047" cy="2563959"/>
          </a:xfrm>
        </p:grpSpPr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65C56A3E-7ABF-4148-4699-B14DB721519C}"/>
                </a:ext>
              </a:extLst>
            </p:cNvPr>
            <p:cNvSpPr txBox="1"/>
            <p:nvPr/>
          </p:nvSpPr>
          <p:spPr>
            <a:xfrm>
              <a:off x="6240098" y="1301934"/>
              <a:ext cx="1199367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E55A8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4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6D9333B-9C37-5D46-A80D-DA6982B333F7}"/>
                </a:ext>
              </a:extLst>
            </p:cNvPr>
            <p:cNvSpPr txBox="1"/>
            <p:nvPr/>
          </p:nvSpPr>
          <p:spPr>
            <a:xfrm>
              <a:off x="7580286" y="1301933"/>
              <a:ext cx="2214068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18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D34CD148-E74C-4EB2-6C2F-DD9249CF1DC6}"/>
                </a:ext>
              </a:extLst>
            </p:cNvPr>
            <p:cNvSpPr txBox="1"/>
            <p:nvPr/>
          </p:nvSpPr>
          <p:spPr>
            <a:xfrm rot="16200000">
              <a:off x="6794547" y="2063568"/>
              <a:ext cx="14013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E55A8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out of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F449006B-FBF5-CD38-9B4B-8DF540A7C646}"/>
                </a:ext>
              </a:extLst>
            </p:cNvPr>
            <p:cNvSpPr txBox="1"/>
            <p:nvPr/>
          </p:nvSpPr>
          <p:spPr>
            <a:xfrm>
              <a:off x="9740660" y="2391055"/>
              <a:ext cx="21011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tools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5D8F1660-D0D1-239D-C759-2F09C990B486}"/>
                </a:ext>
              </a:extLst>
            </p:cNvPr>
            <p:cNvSpPr txBox="1"/>
            <p:nvPr/>
          </p:nvSpPr>
          <p:spPr>
            <a:xfrm>
              <a:off x="6331800" y="3034895"/>
              <a:ext cx="60113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can </a:t>
              </a:r>
              <a:r>
                <a:rPr lang="en-US" sz="24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potentially</a:t>
              </a:r>
              <a:r>
                <a:rPr lang="en-U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support pricing-driven </a:t>
              </a:r>
            </a:p>
            <a:p>
              <a:r>
                <a:rPr lang="en-U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self-adaptation</a:t>
              </a:r>
              <a:endPara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pic>
        <p:nvPicPr>
          <p:cNvPr id="54" name="Imagen 53" descr="Pantalla de video juego&#10;&#10;El contenido generado por IA puede ser incorrecto.">
            <a:extLst>
              <a:ext uri="{FF2B5EF4-FFF2-40B4-BE49-F238E27FC236}">
                <a16:creationId xmlns:a16="http://schemas.microsoft.com/office/drawing/2014/main" id="{BF932718-5A0D-9ABE-2C0F-60D330C167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55" y="4819439"/>
            <a:ext cx="1936329" cy="44374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4655096-EB6E-4585-FBBF-EEAB655D92A2}"/>
              </a:ext>
            </a:extLst>
          </p:cNvPr>
          <p:cNvSpPr txBox="1"/>
          <p:nvPr/>
        </p:nvSpPr>
        <p:spPr>
          <a:xfrm>
            <a:off x="0" y="6089829"/>
            <a:ext cx="59181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Cavero, F. J., &amp; Ruiz-Cortés, A. (2024, December). </a:t>
            </a:r>
          </a:p>
          <a:p>
            <a:r>
              <a:rPr lang="en-US" sz="1400" dirty="0"/>
              <a:t>Racing the market: An industry support analysis for pricing-driven </a:t>
            </a:r>
            <a:r>
              <a:rPr lang="en-US" sz="1400" dirty="0" err="1"/>
              <a:t>devops</a:t>
            </a:r>
            <a:r>
              <a:rPr lang="en-US" sz="1400" dirty="0"/>
              <a:t> in SaaS.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Service-Oriented Computing</a:t>
            </a:r>
            <a:r>
              <a:rPr lang="en-US" sz="1400" dirty="0"/>
              <a:t> (pp. 260-275). 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241B7D9-053B-D4FD-2819-4DA8B8A4D683}"/>
              </a:ext>
            </a:extLst>
          </p:cNvPr>
          <p:cNvGrpSpPr/>
          <p:nvPr/>
        </p:nvGrpSpPr>
        <p:grpSpPr>
          <a:xfrm>
            <a:off x="3350217" y="2174953"/>
            <a:ext cx="2340001" cy="2340000"/>
            <a:chOff x="3822812" y="2711339"/>
            <a:chExt cx="1200178" cy="1229641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F5AAA92-FD6F-83BB-2341-B70915A74F56}"/>
                </a:ext>
              </a:extLst>
            </p:cNvPr>
            <p:cNvSpPr/>
            <p:nvPr/>
          </p:nvSpPr>
          <p:spPr>
            <a:xfrm>
              <a:off x="3822812" y="2711339"/>
              <a:ext cx="1200178" cy="1229641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75826D7-C751-9E98-D35B-203DDFEE8BB7}"/>
                </a:ext>
              </a:extLst>
            </p:cNvPr>
            <p:cNvSpPr/>
            <p:nvPr/>
          </p:nvSpPr>
          <p:spPr>
            <a:xfrm>
              <a:off x="3825846" y="2845853"/>
              <a:ext cx="1197144" cy="8571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endParaRPr lang="en-US" sz="1600" b="1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categories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4CD2872-A505-8039-2B66-612779856773}"/>
              </a:ext>
            </a:extLst>
          </p:cNvPr>
          <p:cNvGrpSpPr/>
          <p:nvPr/>
        </p:nvGrpSpPr>
        <p:grpSpPr>
          <a:xfrm>
            <a:off x="6619238" y="3584779"/>
            <a:ext cx="6103047" cy="2215992"/>
            <a:chOff x="6240098" y="1301933"/>
            <a:chExt cx="6103047" cy="2215992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8B05650-671E-4405-89BC-85453BD39E1F}"/>
                </a:ext>
              </a:extLst>
            </p:cNvPr>
            <p:cNvSpPr txBox="1"/>
            <p:nvPr/>
          </p:nvSpPr>
          <p:spPr>
            <a:xfrm>
              <a:off x="6240098" y="1301934"/>
              <a:ext cx="1199367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E55A8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47970A9-D88F-B92B-975E-87EF0EED8323}"/>
                </a:ext>
              </a:extLst>
            </p:cNvPr>
            <p:cNvSpPr txBox="1"/>
            <p:nvPr/>
          </p:nvSpPr>
          <p:spPr>
            <a:xfrm>
              <a:off x="7580286" y="1301933"/>
              <a:ext cx="2214068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8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18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A4C6F93-D7A6-755B-D7FE-3B8E61B56A6E}"/>
                </a:ext>
              </a:extLst>
            </p:cNvPr>
            <p:cNvSpPr txBox="1"/>
            <p:nvPr/>
          </p:nvSpPr>
          <p:spPr>
            <a:xfrm rot="16200000">
              <a:off x="6794547" y="2063568"/>
              <a:ext cx="14013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E55A8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out of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6E3DD5B-3879-AF85-24B8-7D4D1B651700}"/>
                </a:ext>
              </a:extLst>
            </p:cNvPr>
            <p:cNvSpPr txBox="1"/>
            <p:nvPr/>
          </p:nvSpPr>
          <p:spPr>
            <a:xfrm>
              <a:off x="9740660" y="2391055"/>
              <a:ext cx="21011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tools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6FCD518-44D2-50DB-DF1B-7F2B7B05AF31}"/>
                </a:ext>
              </a:extLst>
            </p:cNvPr>
            <p:cNvSpPr txBox="1"/>
            <p:nvPr/>
          </p:nvSpPr>
          <p:spPr>
            <a:xfrm>
              <a:off x="6331800" y="3034895"/>
              <a:ext cx="60113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support</a:t>
              </a:r>
              <a:r>
                <a:rPr lang="en-U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pricing-driven self-adaptation</a:t>
              </a:r>
              <a:endPara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92C6F1E-7C2A-B85D-ABFE-5856E71AD89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10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55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