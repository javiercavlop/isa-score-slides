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F1280FE-42B1-9048-FFD8-D1B3CDF1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AC602D2-4313-8BC9-3624-60818F3879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2</a:t>
            </a:r>
          </a:p>
        </p:txBody>
      </p:sp>
      <p:pic>
        <p:nvPicPr>
          <p:cNvPr id="9" name="Imagen 8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913EB0E4-2D1B-3BA4-6F09-E58158AA1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40" y="676669"/>
            <a:ext cx="9862520" cy="55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01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06ED129-82DF-1DF5-C198-4E1BB853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D3B40F0-87B0-838F-A2CD-0C362823BA3C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B1F483B-5972-B5BB-C6E0-1C50421073EC}"/>
              </a:ext>
            </a:extLst>
          </p:cNvPr>
          <p:cNvGrpSpPr/>
          <p:nvPr/>
        </p:nvGrpSpPr>
        <p:grpSpPr>
          <a:xfrm>
            <a:off x="1579715" y="1323638"/>
            <a:ext cx="1593706" cy="1714110"/>
            <a:chOff x="7754447" y="1832443"/>
            <a:chExt cx="1593706" cy="1714110"/>
          </a:xfrm>
        </p:grpSpPr>
        <p:pic>
          <p:nvPicPr>
            <p:cNvPr id="19" name="Picture 2" descr="Decision making - Free people icons">
              <a:extLst>
                <a:ext uri="{FF2B5EF4-FFF2-40B4-BE49-F238E27FC236}">
                  <a16:creationId xmlns:a16="http://schemas.microsoft.com/office/drawing/2014/main" id="{9F5D573F-02A8-0493-9964-79F23EB41B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6911" y="1832443"/>
              <a:ext cx="1279559" cy="1233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FD47E63-49A0-CB10-35C5-663503583AAB}"/>
                </a:ext>
              </a:extLst>
            </p:cNvPr>
            <p:cNvSpPr txBox="1"/>
            <p:nvPr/>
          </p:nvSpPr>
          <p:spPr>
            <a:xfrm>
              <a:off x="7754447" y="3177221"/>
              <a:ext cx="1593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Decision-makers</a:t>
              </a:r>
              <a:endParaRPr lang="es-ES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38A2FA6-6E6F-8860-CF71-1B61FA4DE6F1}"/>
              </a:ext>
            </a:extLst>
          </p:cNvPr>
          <p:cNvGrpSpPr/>
          <p:nvPr/>
        </p:nvGrpSpPr>
        <p:grpSpPr>
          <a:xfrm>
            <a:off x="9018581" y="1434683"/>
            <a:ext cx="1233733" cy="1603065"/>
            <a:chOff x="10040447" y="3398849"/>
            <a:chExt cx="1233733" cy="1603065"/>
          </a:xfrm>
        </p:grpSpPr>
        <p:pic>
          <p:nvPicPr>
            <p:cNvPr id="39" name="Picture 6" descr="Cost optimization - Free marketing icons">
              <a:extLst>
                <a:ext uri="{FF2B5EF4-FFF2-40B4-BE49-F238E27FC236}">
                  <a16:creationId xmlns:a16="http://schemas.microsoft.com/office/drawing/2014/main" id="{2F30EA98-724B-35D2-EC18-689499D0F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0447" y="3398849"/>
              <a:ext cx="1233733" cy="1233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9A765170-FC0D-A666-0187-2874EBCDC9E6}"/>
                </a:ext>
              </a:extLst>
            </p:cNvPr>
            <p:cNvSpPr txBox="1"/>
            <p:nvPr/>
          </p:nvSpPr>
          <p:spPr>
            <a:xfrm>
              <a:off x="10123865" y="4632582"/>
              <a:ext cx="1066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Value-cost</a:t>
              </a:r>
              <a:endParaRPr lang="es-ES" dirty="0"/>
            </a:p>
          </p:txBody>
        </p:sp>
      </p:grpSp>
      <p:sp>
        <p:nvSpPr>
          <p:cNvPr id="41" name="Flecha derecha 40">
            <a:extLst>
              <a:ext uri="{FF2B5EF4-FFF2-40B4-BE49-F238E27FC236}">
                <a16:creationId xmlns:a16="http://schemas.microsoft.com/office/drawing/2014/main" id="{66882219-FC8A-5392-245E-A727A3FAAF02}"/>
              </a:ext>
            </a:extLst>
          </p:cNvPr>
          <p:cNvSpPr/>
          <p:nvPr/>
        </p:nvSpPr>
        <p:spPr>
          <a:xfrm>
            <a:off x="4721562" y="1870860"/>
            <a:ext cx="2438400" cy="7162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OPTIMIZE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80D43E5-8BDD-E177-DE28-F7F9484D67FA}"/>
              </a:ext>
            </a:extLst>
          </p:cNvPr>
          <p:cNvSpPr txBox="1"/>
          <p:nvPr/>
        </p:nvSpPr>
        <p:spPr>
          <a:xfrm>
            <a:off x="1882074" y="4457144"/>
            <a:ext cx="84278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 err="1"/>
              <a:t>What</a:t>
            </a:r>
            <a:r>
              <a:rPr lang="es-ES" sz="3200" b="1" dirty="0"/>
              <a:t> </a:t>
            </a:r>
            <a:r>
              <a:rPr lang="es-ES" sz="3200" b="1" dirty="0" err="1"/>
              <a:t>is</a:t>
            </a:r>
            <a:r>
              <a:rPr lang="es-ES" sz="3200" b="1" dirty="0"/>
              <a:t> </a:t>
            </a:r>
            <a:r>
              <a:rPr lang="es-ES" sz="3200" b="1" dirty="0" err="1"/>
              <a:t>the</a:t>
            </a:r>
            <a:r>
              <a:rPr lang="es-ES" sz="3200" b="1" dirty="0"/>
              <a:t> </a:t>
            </a:r>
            <a:r>
              <a:rPr lang="es-ES" sz="3200" b="1" dirty="0" err="1"/>
              <a:t>best</a:t>
            </a:r>
            <a:r>
              <a:rPr lang="es-ES" sz="3200" b="1" dirty="0"/>
              <a:t> </a:t>
            </a:r>
            <a:r>
              <a:rPr lang="es-ES" sz="3200" b="1" dirty="0" err="1"/>
              <a:t>subscription</a:t>
            </a:r>
            <a:r>
              <a:rPr lang="es-ES" sz="3200" b="1" dirty="0"/>
              <a:t> </a:t>
            </a:r>
            <a:r>
              <a:rPr lang="es-ES" sz="3200" b="1" dirty="0" err="1"/>
              <a:t>option</a:t>
            </a:r>
            <a:r>
              <a:rPr lang="es-ES" sz="3200" b="1" dirty="0"/>
              <a:t> </a:t>
            </a:r>
            <a:r>
              <a:rPr lang="es-ES" sz="3200" b="1" dirty="0" err="1"/>
              <a:t>among</a:t>
            </a:r>
            <a:r>
              <a:rPr lang="es-ES" sz="3200" b="1" dirty="0"/>
              <a:t> </a:t>
            </a:r>
            <a:r>
              <a:rPr lang="es-ES" sz="3200" b="1" dirty="0" err="1"/>
              <a:t>all</a:t>
            </a:r>
            <a:r>
              <a:rPr lang="es-ES" sz="3200" b="1" dirty="0"/>
              <a:t> </a:t>
            </a:r>
            <a:r>
              <a:rPr lang="es-ES" sz="3200" b="1" dirty="0" err="1"/>
              <a:t>these</a:t>
            </a:r>
            <a:r>
              <a:rPr lang="es-ES" sz="3200" b="1" dirty="0"/>
              <a:t> SaaS </a:t>
            </a:r>
            <a:r>
              <a:rPr lang="es-ES" sz="3200" b="1" dirty="0" err="1"/>
              <a:t>products</a:t>
            </a:r>
            <a:r>
              <a:rPr lang="es-ES" sz="3200" b="1" dirty="0"/>
              <a:t> </a:t>
            </a:r>
            <a:r>
              <a:rPr lang="es-ES" sz="3200" b="1" dirty="0" err="1"/>
              <a:t>for</a:t>
            </a:r>
            <a:r>
              <a:rPr lang="es-ES" sz="3200" b="1" dirty="0"/>
              <a:t> </a:t>
            </a:r>
            <a:r>
              <a:rPr lang="es-ES" sz="3200" b="1" dirty="0" err="1"/>
              <a:t>continous</a:t>
            </a:r>
            <a:r>
              <a:rPr lang="es-ES" sz="3200" b="1" dirty="0"/>
              <a:t> </a:t>
            </a:r>
            <a:r>
              <a:rPr lang="es-ES" sz="3200" b="1" dirty="0" err="1"/>
              <a:t>integration</a:t>
            </a:r>
            <a:r>
              <a:rPr lang="es-ES" sz="3200" b="1" dirty="0"/>
              <a:t>?</a:t>
            </a: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E88818E3-EABB-6623-7C68-D4EF94B84B65}"/>
              </a:ext>
            </a:extLst>
          </p:cNvPr>
          <p:cNvSpPr txBox="1"/>
          <p:nvPr/>
        </p:nvSpPr>
        <p:spPr>
          <a:xfrm>
            <a:off x="774402" y="3450921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0022"/>
                </a:solidFill>
                <a:latin typeface="Arial"/>
              </a:rPr>
              <a:t>Pricing Intelligence is the discipline that turns pricing data into actionable knowledge.</a:t>
            </a:r>
          </a:p>
        </p:txBody>
      </p:sp>
    </p:spTree>
    <p:extLst>
      <p:ext uri="{BB962C8B-B14F-4D97-AF65-F5344CB8AC3E}">
        <p14:creationId xmlns:p14="http://schemas.microsoft.com/office/powerpoint/2010/main" val="3537365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2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DB9AB75-62F9-922C-3EEB-146D52E8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EE46728D-25A3-3C31-ECF2-3851C3B53D2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544159A-C0D4-EEA8-F282-482B2440DB06}"/>
              </a:ext>
            </a:extLst>
          </p:cNvPr>
          <p:cNvSpPr txBox="1"/>
          <p:nvPr/>
        </p:nvSpPr>
        <p:spPr>
          <a:xfrm>
            <a:off x="757646" y="319937"/>
            <a:ext cx="10493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 err="1"/>
              <a:t>What</a:t>
            </a:r>
            <a:r>
              <a:rPr lang="es-ES" sz="2000" b="1" dirty="0"/>
              <a:t> </a:t>
            </a:r>
            <a:r>
              <a:rPr lang="es-ES" sz="2000" b="1" dirty="0" err="1"/>
              <a:t>is</a:t>
            </a:r>
            <a:r>
              <a:rPr lang="es-ES" sz="2000" b="1" dirty="0"/>
              <a:t> </a:t>
            </a:r>
            <a:r>
              <a:rPr lang="es-ES" sz="2000" b="1" dirty="0" err="1"/>
              <a:t>the</a:t>
            </a:r>
            <a:r>
              <a:rPr lang="es-ES" sz="2000" b="1" dirty="0"/>
              <a:t> </a:t>
            </a:r>
            <a:r>
              <a:rPr lang="es-ES" sz="2000" b="1" dirty="0" err="1"/>
              <a:t>best</a:t>
            </a:r>
            <a:r>
              <a:rPr lang="es-ES" sz="2000" b="1" dirty="0"/>
              <a:t> </a:t>
            </a:r>
            <a:r>
              <a:rPr lang="es-ES" sz="2000" b="1" dirty="0" err="1"/>
              <a:t>subscription</a:t>
            </a:r>
            <a:r>
              <a:rPr lang="es-ES" sz="2000" b="1" dirty="0"/>
              <a:t> </a:t>
            </a:r>
            <a:r>
              <a:rPr lang="es-ES" sz="2000" b="1" dirty="0" err="1"/>
              <a:t>option</a:t>
            </a:r>
            <a:r>
              <a:rPr lang="es-ES" sz="2000" b="1" dirty="0"/>
              <a:t> </a:t>
            </a:r>
            <a:r>
              <a:rPr lang="es-ES" sz="2000" b="1" dirty="0" err="1"/>
              <a:t>among</a:t>
            </a:r>
            <a:r>
              <a:rPr lang="es-ES" sz="2000" b="1" dirty="0"/>
              <a:t> </a:t>
            </a:r>
            <a:r>
              <a:rPr lang="es-ES" sz="2000" b="1" dirty="0" err="1"/>
              <a:t>all</a:t>
            </a:r>
            <a:r>
              <a:rPr lang="es-ES" sz="2000" b="1" dirty="0"/>
              <a:t> </a:t>
            </a:r>
            <a:r>
              <a:rPr lang="es-ES" sz="2000" b="1" dirty="0" err="1"/>
              <a:t>these</a:t>
            </a:r>
            <a:r>
              <a:rPr lang="es-ES" sz="2000" b="1" dirty="0"/>
              <a:t> SaaS </a:t>
            </a:r>
            <a:r>
              <a:rPr lang="es-ES" sz="2000" b="1" dirty="0" err="1"/>
              <a:t>products</a:t>
            </a:r>
            <a:r>
              <a:rPr lang="es-ES" sz="2000" b="1" dirty="0"/>
              <a:t> </a:t>
            </a:r>
            <a:r>
              <a:rPr lang="es-ES" sz="2000" b="1" dirty="0" err="1"/>
              <a:t>for</a:t>
            </a:r>
            <a:r>
              <a:rPr lang="es-ES" sz="2000" b="1" dirty="0"/>
              <a:t> </a:t>
            </a:r>
            <a:r>
              <a:rPr lang="es-ES" sz="2000" b="1" dirty="0" err="1"/>
              <a:t>continous</a:t>
            </a:r>
            <a:r>
              <a:rPr lang="es-ES" sz="2000" b="1" dirty="0"/>
              <a:t> </a:t>
            </a:r>
            <a:r>
              <a:rPr lang="es-ES" sz="2000" b="1" dirty="0" err="1"/>
              <a:t>integration</a:t>
            </a:r>
            <a:r>
              <a:rPr lang="es-ES" sz="2000" b="1" dirty="0"/>
              <a:t>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CC2539-5416-41EB-6840-A89F74CA2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1" y="2105499"/>
            <a:ext cx="5230922" cy="426853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E06D73-C11A-7976-968D-76401881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629" y="870474"/>
            <a:ext cx="4021546" cy="14884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B872C1-5049-FC63-8419-E1AA52965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37316"/>
            <a:ext cx="5513641" cy="29010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FB13B57-DBE3-2321-3BD8-CE3D4E10F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879" y="1077736"/>
            <a:ext cx="5438809" cy="15409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40C004B-EC79-290A-7759-30C2DC0BC1AA}"/>
              </a:ext>
            </a:extLst>
          </p:cNvPr>
          <p:cNvSpPr/>
          <p:nvPr/>
        </p:nvSpPr>
        <p:spPr>
          <a:xfrm>
            <a:off x="505096" y="3666308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96FCD4-2915-D7C0-38CA-486071C4FCC3}"/>
              </a:ext>
            </a:extLst>
          </p:cNvPr>
          <p:cNvSpPr/>
          <p:nvPr/>
        </p:nvSpPr>
        <p:spPr>
          <a:xfrm>
            <a:off x="2251164" y="4776651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E08F62-A591-CF24-829C-04A459D5E874}"/>
              </a:ext>
            </a:extLst>
          </p:cNvPr>
          <p:cNvSpPr/>
          <p:nvPr/>
        </p:nvSpPr>
        <p:spPr>
          <a:xfrm>
            <a:off x="3953690" y="5482045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6CE5669-C930-713F-F86C-64D963837402}"/>
              </a:ext>
            </a:extLst>
          </p:cNvPr>
          <p:cNvSpPr/>
          <p:nvPr/>
        </p:nvSpPr>
        <p:spPr>
          <a:xfrm>
            <a:off x="6344193" y="4776650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FB2EB09-7D66-9CD2-D9E8-67740FA290AB}"/>
              </a:ext>
            </a:extLst>
          </p:cNvPr>
          <p:cNvSpPr/>
          <p:nvPr/>
        </p:nvSpPr>
        <p:spPr>
          <a:xfrm>
            <a:off x="8212739" y="4776650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091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