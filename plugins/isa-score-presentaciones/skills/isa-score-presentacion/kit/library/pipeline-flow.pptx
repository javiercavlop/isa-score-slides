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svg"/><Relationship Id="rId9" Type="http://schemas.openxmlformats.org/officeDocument/2006/relationships/image" Target="../media/image13.png"/><Relationship Id="rId10" Type="http://schemas.openxmlformats.org/officeDocument/2006/relationships/image" Target="../media/image11.png"/><Relationship Id="rId11" Type="http://schemas.openxmlformats.org/officeDocument/2006/relationships/image" Target="../media/image8.png"/><Relationship Id="rId12" Type="http://schemas.openxmlformats.org/officeDocument/2006/relationships/image" Target="../media/image5.png"/><Relationship Id="rId13" Type="http://schemas.openxmlformats.org/officeDocument/2006/relationships/image" Target="../media/image3.png"/><Relationship Id="rId14" Type="http://schemas.openxmlformats.org/officeDocument/2006/relationships/image" Target="../media/image2.svg"/><Relationship Id="rId15" Type="http://schemas.openxmlformats.org/officeDocument/2006/relationships/image" Target="../media/image10.png"/><Relationship Id="rId1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svg"/><Relationship Id="rId9" Type="http://schemas.openxmlformats.org/officeDocument/2006/relationships/image" Target="../media/image13.png"/><Relationship Id="rId10" Type="http://schemas.openxmlformats.org/officeDocument/2006/relationships/image" Target="../media/image11.png"/><Relationship Id="rId11" Type="http://schemas.openxmlformats.org/officeDocument/2006/relationships/image" Target="../media/image8.png"/><Relationship Id="rId12" Type="http://schemas.openxmlformats.org/officeDocument/2006/relationships/image" Target="../media/image5.png"/><Relationship Id="rId13" Type="http://schemas.openxmlformats.org/officeDocument/2006/relationships/image" Target="../media/image3.png"/><Relationship Id="rId14" Type="http://schemas.openxmlformats.org/officeDocument/2006/relationships/image" Target="../media/image2.svg"/><Relationship Id="rId15" Type="http://schemas.openxmlformats.org/officeDocument/2006/relationships/image" Target="../media/image10.png"/><Relationship Id="rId1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D0F1639-4511-DB52-0882-5C611B55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5B8C0-C5EB-B341-2D37-E0C187C5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pPr algn="just"/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1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How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are pricings’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configuration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and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evaluation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spaces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evolving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in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modern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SaaS?</a:t>
            </a:r>
            <a:endParaRPr lang="es-ES" b="1" dirty="0">
              <a:solidFill>
                <a:srgbClr val="7E0029"/>
              </a:solidFill>
            </a:endParaRP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23D578A6-1AB0-38F0-2C36-6DA46ABB0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58" y="1847344"/>
            <a:ext cx="2142994" cy="1455075"/>
          </a:xfrm>
          <a:prstGeom prst="rect">
            <a:avLst/>
          </a:prstGeom>
          <a:ln w="28575">
            <a:solidFill>
              <a:srgbClr val="7E0029"/>
            </a:solidFill>
          </a:ln>
        </p:spPr>
      </p:pic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9DC3DCCB-A4F3-1893-C136-2EC4DA476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87" y="2276055"/>
            <a:ext cx="597654" cy="59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atfile helps ClickUp simplify data onboarding | Flatfile">
            <a:extLst>
              <a:ext uri="{FF2B5EF4-FFF2-40B4-BE49-F238E27FC236}">
                <a16:creationId xmlns:a16="http://schemas.microsoft.com/office/drawing/2014/main" id="{2A87DF20-6CDE-DC7A-D80E-D30B4978A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62" y="5580571"/>
            <a:ext cx="2599616" cy="692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echa derecha 4">
            <a:extLst>
              <a:ext uri="{FF2B5EF4-FFF2-40B4-BE49-F238E27FC236}">
                <a16:creationId xmlns:a16="http://schemas.microsoft.com/office/drawing/2014/main" id="{8E935496-2392-AAF8-4699-A8038E790FF6}"/>
              </a:ext>
            </a:extLst>
          </p:cNvPr>
          <p:cNvSpPr/>
          <p:nvPr/>
        </p:nvSpPr>
        <p:spPr>
          <a:xfrm>
            <a:off x="3778512" y="2456033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16310DD1-67A1-792D-85EE-8F8F08C910F8}"/>
              </a:ext>
            </a:extLst>
          </p:cNvPr>
          <p:cNvSpPr/>
          <p:nvPr/>
        </p:nvSpPr>
        <p:spPr>
          <a:xfrm>
            <a:off x="3778511" y="5718010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D80419-92A2-F969-F4EF-74EC8FE9BBE0}"/>
              </a:ext>
            </a:extLst>
          </p:cNvPr>
          <p:cNvSpPr txBox="1"/>
          <p:nvPr/>
        </p:nvSpPr>
        <p:spPr>
          <a:xfrm>
            <a:off x="5420123" y="1599070"/>
            <a:ext cx="635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16</a:t>
            </a:r>
          </a:p>
        </p:txBody>
      </p:sp>
      <p:sp>
        <p:nvSpPr>
          <p:cNvPr id="34" name="Flecha doblada hacia arriba 33">
            <a:extLst>
              <a:ext uri="{FF2B5EF4-FFF2-40B4-BE49-F238E27FC236}">
                <a16:creationId xmlns:a16="http://schemas.microsoft.com/office/drawing/2014/main" id="{482A6102-BD1A-9E9A-27A9-32B139C30CA8}"/>
              </a:ext>
            </a:extLst>
          </p:cNvPr>
          <p:cNvSpPr/>
          <p:nvPr/>
        </p:nvSpPr>
        <p:spPr>
          <a:xfrm flipV="1">
            <a:off x="6371867" y="2219680"/>
            <a:ext cx="1699318" cy="650014"/>
          </a:xfrm>
          <a:prstGeom prst="bentUp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0617F45-6197-5CD4-9EF8-8DAC89AE0534}"/>
              </a:ext>
            </a:extLst>
          </p:cNvPr>
          <p:cNvSpPr txBox="1"/>
          <p:nvPr/>
        </p:nvSpPr>
        <p:spPr>
          <a:xfrm>
            <a:off x="5353798" y="4885242"/>
            <a:ext cx="635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30</a:t>
            </a:r>
          </a:p>
        </p:txBody>
      </p:sp>
      <p:sp>
        <p:nvSpPr>
          <p:cNvPr id="45" name="Flecha doblada hacia arriba 44">
            <a:extLst>
              <a:ext uri="{FF2B5EF4-FFF2-40B4-BE49-F238E27FC236}">
                <a16:creationId xmlns:a16="http://schemas.microsoft.com/office/drawing/2014/main" id="{EE3D9E69-375E-2943-6B85-75D093AFDE1C}"/>
              </a:ext>
            </a:extLst>
          </p:cNvPr>
          <p:cNvSpPr/>
          <p:nvPr/>
        </p:nvSpPr>
        <p:spPr>
          <a:xfrm>
            <a:off x="6344909" y="5476478"/>
            <a:ext cx="1730707" cy="650014"/>
          </a:xfrm>
          <a:prstGeom prst="bentUp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7" name="Gráfico 46" descr="Filtro con relleno sólido">
            <a:extLst>
              <a:ext uri="{FF2B5EF4-FFF2-40B4-BE49-F238E27FC236}">
                <a16:creationId xmlns:a16="http://schemas.microsoft.com/office/drawing/2014/main" id="{9C9A8473-FB61-A476-FC3C-F07AF1F8A1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9518" y="2844571"/>
            <a:ext cx="882428" cy="882428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F61A84F1-30A2-5435-20E8-99CB49AF3DAC}"/>
              </a:ext>
            </a:extLst>
          </p:cNvPr>
          <p:cNvSpPr txBox="1"/>
          <p:nvPr/>
        </p:nvSpPr>
        <p:spPr>
          <a:xfrm>
            <a:off x="6172448" y="3642661"/>
            <a:ext cx="3211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 err="1"/>
              <a:t>Available</a:t>
            </a:r>
            <a:r>
              <a:rPr lang="es-ES_tradnl" sz="2400" dirty="0"/>
              <a:t> </a:t>
            </a:r>
            <a:r>
              <a:rPr lang="es-ES_tradnl" sz="2400" dirty="0" err="1"/>
              <a:t>on</a:t>
            </a:r>
            <a:r>
              <a:rPr lang="es-ES_tradnl" sz="2400" dirty="0"/>
              <a:t> </a:t>
            </a:r>
            <a:r>
              <a:rPr lang="es-ES_tradnl" sz="2400" dirty="0" err="1"/>
              <a:t>webarchive</a:t>
            </a:r>
            <a:endParaRPr lang="es-ES_tradnl" sz="24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01C23AC-1A23-EC78-9E5A-C8461BDD2259}"/>
              </a:ext>
            </a:extLst>
          </p:cNvPr>
          <p:cNvSpPr txBox="1"/>
          <p:nvPr/>
        </p:nvSpPr>
        <p:spPr>
          <a:xfrm>
            <a:off x="5936676" y="4129396"/>
            <a:ext cx="3693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+4 </a:t>
            </a:r>
            <a:r>
              <a:rPr lang="es-ES_tradnl" sz="2400" dirty="0" err="1"/>
              <a:t>years</a:t>
            </a:r>
            <a:r>
              <a:rPr lang="es-ES_tradnl" sz="2400" dirty="0"/>
              <a:t> </a:t>
            </a:r>
            <a:r>
              <a:rPr lang="es-ES_tradnl" sz="2400" dirty="0" err="1"/>
              <a:t>of</a:t>
            </a:r>
            <a:r>
              <a:rPr lang="es-ES_tradnl" sz="2400" dirty="0"/>
              <a:t> </a:t>
            </a:r>
            <a:r>
              <a:rPr lang="es-ES_tradnl" sz="2400" dirty="0" err="1"/>
              <a:t>trackable</a:t>
            </a:r>
            <a:r>
              <a:rPr lang="es-ES_tradnl" sz="2400" dirty="0"/>
              <a:t> </a:t>
            </a:r>
            <a:r>
              <a:rPr lang="es-ES_tradnl" sz="2400" dirty="0" err="1"/>
              <a:t>history</a:t>
            </a:r>
            <a:endParaRPr lang="es-ES_tradnl" sz="2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1C2D7AC-1999-82F1-05E8-1654D6C74D0D}"/>
              </a:ext>
            </a:extLst>
          </p:cNvPr>
          <p:cNvSpPr txBox="1"/>
          <p:nvPr/>
        </p:nvSpPr>
        <p:spPr>
          <a:xfrm>
            <a:off x="6424227" y="4577465"/>
            <a:ext cx="2979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2400" dirty="0"/>
              <a:t>Clear </a:t>
            </a:r>
            <a:r>
              <a:rPr lang="es-ES_tradnl" sz="2400" dirty="0" err="1"/>
              <a:t>list</a:t>
            </a:r>
            <a:r>
              <a:rPr lang="es-ES_tradnl" sz="2400" dirty="0"/>
              <a:t> </a:t>
            </a:r>
            <a:r>
              <a:rPr lang="es-ES_tradnl" sz="2400" dirty="0" err="1"/>
              <a:t>of</a:t>
            </a:r>
            <a:r>
              <a:rPr lang="es-ES_tradnl" sz="2400" dirty="0"/>
              <a:t> </a:t>
            </a:r>
            <a:r>
              <a:rPr lang="es-ES_tradnl" sz="2400" dirty="0" err="1"/>
              <a:t>features</a:t>
            </a:r>
            <a:r>
              <a:rPr lang="es-ES_tradnl" sz="2400" dirty="0"/>
              <a:t> in</a:t>
            </a:r>
          </a:p>
          <a:p>
            <a:pPr algn="ctr"/>
            <a:r>
              <a:rPr lang="es-ES_tradnl" sz="2400" dirty="0" err="1"/>
              <a:t>most</a:t>
            </a:r>
            <a:r>
              <a:rPr lang="es-ES_tradnl" sz="2400" dirty="0"/>
              <a:t> </a:t>
            </a:r>
            <a:r>
              <a:rPr lang="es-ES_tradnl" sz="2400" dirty="0" err="1"/>
              <a:t>snapshots</a:t>
            </a:r>
            <a:endParaRPr lang="es-ES_tradnl" sz="2400" dirty="0"/>
          </a:p>
        </p:txBody>
      </p:sp>
      <p:sp>
        <p:nvSpPr>
          <p:cNvPr id="51" name="Flecha derecha 50">
            <a:extLst>
              <a:ext uri="{FF2B5EF4-FFF2-40B4-BE49-F238E27FC236}">
                <a16:creationId xmlns:a16="http://schemas.microsoft.com/office/drawing/2014/main" id="{A185BDA9-A726-6ABA-DE19-A417970B6BBE}"/>
              </a:ext>
            </a:extLst>
          </p:cNvPr>
          <p:cNvSpPr/>
          <p:nvPr/>
        </p:nvSpPr>
        <p:spPr>
          <a:xfrm>
            <a:off x="9303957" y="3518160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9" name="CuadroTexto 1028">
            <a:extLst>
              <a:ext uri="{FF2B5EF4-FFF2-40B4-BE49-F238E27FC236}">
                <a16:creationId xmlns:a16="http://schemas.microsoft.com/office/drawing/2014/main" id="{91F00BEC-C124-F111-1990-6B6EEBF569AA}"/>
              </a:ext>
            </a:extLst>
          </p:cNvPr>
          <p:cNvSpPr txBox="1"/>
          <p:nvPr/>
        </p:nvSpPr>
        <p:spPr>
          <a:xfrm>
            <a:off x="10822600" y="4134538"/>
            <a:ext cx="940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162</a:t>
            </a:r>
            <a:endParaRPr lang="es-ES_tradnl" sz="2800" b="1" dirty="0">
              <a:solidFill>
                <a:srgbClr val="7E002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073D9B1-DB85-3CE8-6E21-97CF45F84CB4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10</a:t>
            </a:r>
          </a:p>
        </p:txBody>
      </p:sp>
      <p:pic>
        <p:nvPicPr>
          <p:cNvPr id="7" name="Imagen 6" descr="Imagen que contiene exterior, luz, calle&#10;&#10;Descripción generada automáticamente">
            <a:extLst>
              <a:ext uri="{FF2B5EF4-FFF2-40B4-BE49-F238E27FC236}">
                <a16:creationId xmlns:a16="http://schemas.microsoft.com/office/drawing/2014/main" id="{8E77B08A-BC22-B8B4-0213-3DF8B3F1C9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66" y="2112128"/>
            <a:ext cx="914718" cy="914718"/>
          </a:xfrm>
          <a:prstGeom prst="rect">
            <a:avLst/>
          </a:prstGeom>
        </p:spPr>
      </p:pic>
      <p:pic>
        <p:nvPicPr>
          <p:cNvPr id="8" name="Imagen 7" descr="Imagen que contiene exterior, luz, calle&#10;&#10;Descripción generada automáticamente">
            <a:extLst>
              <a:ext uri="{FF2B5EF4-FFF2-40B4-BE49-F238E27FC236}">
                <a16:creationId xmlns:a16="http://schemas.microsoft.com/office/drawing/2014/main" id="{B237E9C2-F358-675F-CB2F-53DA45257E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058" y="5420062"/>
            <a:ext cx="914718" cy="914718"/>
          </a:xfrm>
          <a:prstGeom prst="rect">
            <a:avLst/>
          </a:prstGeom>
        </p:spPr>
      </p:pic>
      <p:pic>
        <p:nvPicPr>
          <p:cNvPr id="10" name="Imagen 9" descr="Texto&#10;&#10;Descripción generada automáticamente">
            <a:extLst>
              <a:ext uri="{FF2B5EF4-FFF2-40B4-BE49-F238E27FC236}">
                <a16:creationId xmlns:a16="http://schemas.microsoft.com/office/drawing/2014/main" id="{F5B094AB-49B7-9BDC-F44C-E5DF5BEF75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6" y="2950319"/>
            <a:ext cx="1125997" cy="1125997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64975C3-C505-D9E4-2995-C08E87740471}"/>
              </a:ext>
            </a:extLst>
          </p:cNvPr>
          <p:cNvCxnSpPr>
            <a:cxnSpLocks/>
          </p:cNvCxnSpPr>
          <p:nvPr/>
        </p:nvCxnSpPr>
        <p:spPr>
          <a:xfrm>
            <a:off x="7751428" y="4135039"/>
            <a:ext cx="260059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5898B18-A52E-5962-4ADC-E16B82682CB0}"/>
              </a:ext>
            </a:extLst>
          </p:cNvPr>
          <p:cNvCxnSpPr>
            <a:cxnSpLocks/>
          </p:cNvCxnSpPr>
          <p:nvPr/>
        </p:nvCxnSpPr>
        <p:spPr>
          <a:xfrm>
            <a:off x="7752826" y="4606221"/>
            <a:ext cx="250272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1EDD9215-DE68-6DE8-F562-A21A8EE4E0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490575">
            <a:off x="10116889" y="5457812"/>
            <a:ext cx="824608" cy="8246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CA22158-CF43-F75C-3584-3455594874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502613">
            <a:off x="9675343" y="5407325"/>
            <a:ext cx="752594" cy="86070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574C9650-7C10-9D70-7923-346694BEAE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149911">
            <a:off x="9207110" y="5409881"/>
            <a:ext cx="638668" cy="63866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3E5007A-6E3C-F119-D6D5-AF7B7847B7D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0133931">
            <a:off x="9341895" y="5508323"/>
            <a:ext cx="812124" cy="81212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31AF6C1-9898-B1BA-A7D9-C1101AE853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85516">
            <a:off x="10233689" y="5260004"/>
            <a:ext cx="938661" cy="938661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7F94239-65C3-F9CF-9C5A-71DFEF8F52C4}"/>
              </a:ext>
            </a:extLst>
          </p:cNvPr>
          <p:cNvSpPr/>
          <p:nvPr/>
        </p:nvSpPr>
        <p:spPr>
          <a:xfrm>
            <a:off x="8869697" y="5348713"/>
            <a:ext cx="2584362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4C8D8C-13A8-0DB4-B549-F583FCC49AA8}"/>
              </a:ext>
            </a:extLst>
          </p:cNvPr>
          <p:cNvSpPr txBox="1"/>
          <p:nvPr/>
        </p:nvSpPr>
        <p:spPr>
          <a:xfrm>
            <a:off x="8869697" y="5348474"/>
            <a:ext cx="2584362" cy="1015663"/>
          </a:xfrm>
          <a:prstGeom prst="rect">
            <a:avLst/>
          </a:prstGeom>
          <a:noFill/>
          <a:ln w="19050">
            <a:solidFill>
              <a:srgbClr val="7E0029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6000" dirty="0">
                <a:solidFill>
                  <a:srgbClr val="7E0029"/>
                </a:solidFill>
              </a:rPr>
              <a:t>30 SaaS</a:t>
            </a:r>
            <a:endParaRPr lang="es-ES_tradnl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10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4" grpId="0" animBg="1"/>
      <p:bldP spid="44" grpId="0"/>
      <p:bldP spid="45" grpId="0" animBg="1"/>
      <p:bldP spid="48" grpId="0"/>
      <p:bldP spid="49" grpId="0"/>
      <p:bldP spid="50" grpId="0"/>
      <p:bldP spid="51" grpId="0" animBg="1"/>
      <p:bldP spid="1029" grpId="0"/>
      <p:bldP spid="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45EE025-1EA1-9539-84D8-224F3A83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F943-EC27-D573-6165-04D80DB3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4" y="0"/>
            <a:ext cx="10657371" cy="1325563"/>
          </a:xfrm>
        </p:spPr>
        <p:txBody>
          <a:bodyPr>
            <a:normAutofit/>
          </a:bodyPr>
          <a:lstStyle/>
          <a:p>
            <a:pPr algn="just"/>
            <a:r>
              <a:rPr lang="es-ES" b="1" dirty="0">
                <a:solidFill>
                  <a:srgbClr val="7E0029"/>
                </a:solidFill>
              </a:rPr>
              <a:t>RQ</a:t>
            </a:r>
            <a:r>
              <a:rPr lang="es-ES" b="1" baseline="-25000" dirty="0">
                <a:solidFill>
                  <a:srgbClr val="7E0029"/>
                </a:solidFill>
              </a:rPr>
              <a:t>1</a:t>
            </a:r>
            <a:r>
              <a:rPr lang="es-ES" b="1" dirty="0">
                <a:solidFill>
                  <a:srgbClr val="7E0029"/>
                </a:solidFill>
              </a:rPr>
              <a:t>: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How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are pricings’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configuration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and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evaluation</a:t>
            </a:r>
            <a:r>
              <a:rPr lang="es-ES" sz="2800" dirty="0">
                <a:solidFill>
                  <a:srgbClr val="7E0029"/>
                </a:solidFill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spaces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evolving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in </a:t>
            </a:r>
            <a:r>
              <a:rPr lang="es-ES" sz="2800" dirty="0" err="1">
                <a:solidFill>
                  <a:srgbClr val="7E0029"/>
                </a:solidFill>
                <a:effectLst/>
                <a:latin typeface="Helvetica" pitchFamily="2" charset="0"/>
              </a:rPr>
              <a:t>modern</a:t>
            </a:r>
            <a:r>
              <a:rPr lang="es-ES" sz="2800" dirty="0">
                <a:solidFill>
                  <a:srgbClr val="7E0029"/>
                </a:solidFill>
                <a:effectLst/>
                <a:latin typeface="Helvetica" pitchFamily="2" charset="0"/>
              </a:rPr>
              <a:t> SaaS?</a:t>
            </a:r>
            <a:endParaRPr lang="es-ES" b="1" dirty="0">
              <a:solidFill>
                <a:srgbClr val="7E0029"/>
              </a:solidFill>
            </a:endParaRP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71BA497-E1DC-99BA-85D3-C701A30CE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58" y="1847344"/>
            <a:ext cx="2142994" cy="1455075"/>
          </a:xfrm>
          <a:prstGeom prst="rect">
            <a:avLst/>
          </a:prstGeom>
          <a:ln w="28575">
            <a:solidFill>
              <a:srgbClr val="7E0029"/>
            </a:solidFill>
          </a:ln>
        </p:spPr>
      </p:pic>
      <p:pic>
        <p:nvPicPr>
          <p:cNvPr id="1026" name="Picture 2" descr="Github Logo - Free social media icons">
            <a:extLst>
              <a:ext uri="{FF2B5EF4-FFF2-40B4-BE49-F238E27FC236}">
                <a16:creationId xmlns:a16="http://schemas.microsoft.com/office/drawing/2014/main" id="{AFEF0396-4C84-8667-63BB-1F359C7D1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87" y="2276055"/>
            <a:ext cx="597654" cy="59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latfile helps ClickUp simplify data onboarding | Flatfile">
            <a:extLst>
              <a:ext uri="{FF2B5EF4-FFF2-40B4-BE49-F238E27FC236}">
                <a16:creationId xmlns:a16="http://schemas.microsoft.com/office/drawing/2014/main" id="{DBA2EFD4-02E6-5ADB-D30E-7034B3011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62" y="5580571"/>
            <a:ext cx="2599616" cy="692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echa derecha 4">
            <a:extLst>
              <a:ext uri="{FF2B5EF4-FFF2-40B4-BE49-F238E27FC236}">
                <a16:creationId xmlns:a16="http://schemas.microsoft.com/office/drawing/2014/main" id="{39705A60-319F-72D6-9EF3-24E6E63B34E6}"/>
              </a:ext>
            </a:extLst>
          </p:cNvPr>
          <p:cNvSpPr/>
          <p:nvPr/>
        </p:nvSpPr>
        <p:spPr>
          <a:xfrm>
            <a:off x="3778512" y="2456033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4892851A-30FE-3645-3694-5F94AA795499}"/>
              </a:ext>
            </a:extLst>
          </p:cNvPr>
          <p:cNvSpPr/>
          <p:nvPr/>
        </p:nvSpPr>
        <p:spPr>
          <a:xfrm>
            <a:off x="3778511" y="5718010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3D2799-ABEB-BD07-55A4-D68DB3213FD7}"/>
              </a:ext>
            </a:extLst>
          </p:cNvPr>
          <p:cNvSpPr txBox="1"/>
          <p:nvPr/>
        </p:nvSpPr>
        <p:spPr>
          <a:xfrm>
            <a:off x="5420123" y="1599070"/>
            <a:ext cx="635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16</a:t>
            </a:r>
          </a:p>
        </p:txBody>
      </p:sp>
      <p:sp>
        <p:nvSpPr>
          <p:cNvPr id="34" name="Flecha doblada hacia arriba 33">
            <a:extLst>
              <a:ext uri="{FF2B5EF4-FFF2-40B4-BE49-F238E27FC236}">
                <a16:creationId xmlns:a16="http://schemas.microsoft.com/office/drawing/2014/main" id="{EFA7B014-BDF7-8571-B7F8-50BB5A28335B}"/>
              </a:ext>
            </a:extLst>
          </p:cNvPr>
          <p:cNvSpPr/>
          <p:nvPr/>
        </p:nvSpPr>
        <p:spPr>
          <a:xfrm flipV="1">
            <a:off x="6371867" y="2219680"/>
            <a:ext cx="1699318" cy="650014"/>
          </a:xfrm>
          <a:prstGeom prst="bentUp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F712C01-DE9B-0C94-74C4-AA02093AFDA4}"/>
              </a:ext>
            </a:extLst>
          </p:cNvPr>
          <p:cNvSpPr txBox="1"/>
          <p:nvPr/>
        </p:nvSpPr>
        <p:spPr>
          <a:xfrm>
            <a:off x="5353798" y="4885242"/>
            <a:ext cx="635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30</a:t>
            </a:r>
          </a:p>
        </p:txBody>
      </p:sp>
      <p:sp>
        <p:nvSpPr>
          <p:cNvPr id="45" name="Flecha doblada hacia arriba 44">
            <a:extLst>
              <a:ext uri="{FF2B5EF4-FFF2-40B4-BE49-F238E27FC236}">
                <a16:creationId xmlns:a16="http://schemas.microsoft.com/office/drawing/2014/main" id="{D28A98E0-6AD6-43D6-744B-A5299905030D}"/>
              </a:ext>
            </a:extLst>
          </p:cNvPr>
          <p:cNvSpPr/>
          <p:nvPr/>
        </p:nvSpPr>
        <p:spPr>
          <a:xfrm>
            <a:off x="6344909" y="5476478"/>
            <a:ext cx="1730707" cy="650014"/>
          </a:xfrm>
          <a:prstGeom prst="bentUp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47" name="Gráfico 46" descr="Filtro con relleno sólido">
            <a:extLst>
              <a:ext uri="{FF2B5EF4-FFF2-40B4-BE49-F238E27FC236}">
                <a16:creationId xmlns:a16="http://schemas.microsoft.com/office/drawing/2014/main" id="{BE68D7A8-97E5-2634-CDEA-0F3AE8F82A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9518" y="2844571"/>
            <a:ext cx="882428" cy="882428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FA60AFC1-16D5-8439-6C56-053A8686B1C4}"/>
              </a:ext>
            </a:extLst>
          </p:cNvPr>
          <p:cNvSpPr txBox="1"/>
          <p:nvPr/>
        </p:nvSpPr>
        <p:spPr>
          <a:xfrm>
            <a:off x="6172448" y="3642661"/>
            <a:ext cx="3211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 err="1"/>
              <a:t>Available</a:t>
            </a:r>
            <a:r>
              <a:rPr lang="es-ES_tradnl" sz="2400" dirty="0"/>
              <a:t> </a:t>
            </a:r>
            <a:r>
              <a:rPr lang="es-ES_tradnl" sz="2400" dirty="0" err="1"/>
              <a:t>on</a:t>
            </a:r>
            <a:r>
              <a:rPr lang="es-ES_tradnl" sz="2400" dirty="0"/>
              <a:t> </a:t>
            </a:r>
            <a:r>
              <a:rPr lang="es-ES_tradnl" sz="2400" dirty="0" err="1"/>
              <a:t>webarchive</a:t>
            </a:r>
            <a:endParaRPr lang="es-ES_tradnl" sz="24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20B78A5-5B1D-E12E-4C93-41096CC54278}"/>
              </a:ext>
            </a:extLst>
          </p:cNvPr>
          <p:cNvSpPr txBox="1"/>
          <p:nvPr/>
        </p:nvSpPr>
        <p:spPr>
          <a:xfrm>
            <a:off x="5936676" y="4129396"/>
            <a:ext cx="3693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/>
              <a:t>+4 </a:t>
            </a:r>
            <a:r>
              <a:rPr lang="es-ES_tradnl" sz="2400" dirty="0" err="1"/>
              <a:t>years</a:t>
            </a:r>
            <a:r>
              <a:rPr lang="es-ES_tradnl" sz="2400" dirty="0"/>
              <a:t> </a:t>
            </a:r>
            <a:r>
              <a:rPr lang="es-ES_tradnl" sz="2400" dirty="0" err="1"/>
              <a:t>of</a:t>
            </a:r>
            <a:r>
              <a:rPr lang="es-ES_tradnl" sz="2400" dirty="0"/>
              <a:t> </a:t>
            </a:r>
            <a:r>
              <a:rPr lang="es-ES_tradnl" sz="2400" dirty="0" err="1"/>
              <a:t>trackable</a:t>
            </a:r>
            <a:r>
              <a:rPr lang="es-ES_tradnl" sz="2400" dirty="0"/>
              <a:t> </a:t>
            </a:r>
            <a:r>
              <a:rPr lang="es-ES_tradnl" sz="2400" dirty="0" err="1"/>
              <a:t>history</a:t>
            </a:r>
            <a:endParaRPr lang="es-ES_tradnl" sz="2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15E4420-B601-6EC9-D639-76A74D97DAB5}"/>
              </a:ext>
            </a:extLst>
          </p:cNvPr>
          <p:cNvSpPr txBox="1"/>
          <p:nvPr/>
        </p:nvSpPr>
        <p:spPr>
          <a:xfrm>
            <a:off x="6424227" y="4577465"/>
            <a:ext cx="2979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2400" dirty="0"/>
              <a:t>Clear </a:t>
            </a:r>
            <a:r>
              <a:rPr lang="es-ES_tradnl" sz="2400" dirty="0" err="1"/>
              <a:t>list</a:t>
            </a:r>
            <a:r>
              <a:rPr lang="es-ES_tradnl" sz="2400" dirty="0"/>
              <a:t> </a:t>
            </a:r>
            <a:r>
              <a:rPr lang="es-ES_tradnl" sz="2400" dirty="0" err="1"/>
              <a:t>of</a:t>
            </a:r>
            <a:r>
              <a:rPr lang="es-ES_tradnl" sz="2400" dirty="0"/>
              <a:t> </a:t>
            </a:r>
            <a:r>
              <a:rPr lang="es-ES_tradnl" sz="2400" dirty="0" err="1"/>
              <a:t>features</a:t>
            </a:r>
            <a:r>
              <a:rPr lang="es-ES_tradnl" sz="2400" dirty="0"/>
              <a:t> in</a:t>
            </a:r>
          </a:p>
          <a:p>
            <a:pPr algn="ctr"/>
            <a:r>
              <a:rPr lang="es-ES_tradnl" sz="2400" dirty="0" err="1"/>
              <a:t>most</a:t>
            </a:r>
            <a:r>
              <a:rPr lang="es-ES_tradnl" sz="2400" dirty="0"/>
              <a:t> </a:t>
            </a:r>
            <a:r>
              <a:rPr lang="es-ES_tradnl" sz="2400" dirty="0" err="1"/>
              <a:t>snapshots</a:t>
            </a:r>
            <a:endParaRPr lang="es-ES_tradnl" sz="2400" dirty="0"/>
          </a:p>
        </p:txBody>
      </p:sp>
      <p:sp>
        <p:nvSpPr>
          <p:cNvPr id="51" name="Flecha derecha 50">
            <a:extLst>
              <a:ext uri="{FF2B5EF4-FFF2-40B4-BE49-F238E27FC236}">
                <a16:creationId xmlns:a16="http://schemas.microsoft.com/office/drawing/2014/main" id="{9E2CD0B4-246D-C38A-AC60-3EB46E8D8A54}"/>
              </a:ext>
            </a:extLst>
          </p:cNvPr>
          <p:cNvSpPr/>
          <p:nvPr/>
        </p:nvSpPr>
        <p:spPr>
          <a:xfrm>
            <a:off x="9303957" y="3518160"/>
            <a:ext cx="1125997" cy="417676"/>
          </a:xfrm>
          <a:prstGeom prst="rightArrow">
            <a:avLst/>
          </a:prstGeom>
          <a:solidFill>
            <a:srgbClr val="7E00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29" name="CuadroTexto 1028">
            <a:extLst>
              <a:ext uri="{FF2B5EF4-FFF2-40B4-BE49-F238E27FC236}">
                <a16:creationId xmlns:a16="http://schemas.microsoft.com/office/drawing/2014/main" id="{35336A38-92F1-8D65-2CD5-84FA511F87AC}"/>
              </a:ext>
            </a:extLst>
          </p:cNvPr>
          <p:cNvSpPr txBox="1"/>
          <p:nvPr/>
        </p:nvSpPr>
        <p:spPr>
          <a:xfrm>
            <a:off x="10822600" y="4134538"/>
            <a:ext cx="940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b="1" dirty="0">
                <a:solidFill>
                  <a:srgbClr val="7E0029"/>
                </a:solidFill>
                <a:latin typeface="+mj-lt"/>
                <a:ea typeface="+mj-ea"/>
                <a:cs typeface="+mj-cs"/>
              </a:rPr>
              <a:t>162</a:t>
            </a:r>
            <a:endParaRPr lang="es-ES_tradnl" sz="2800" b="1" dirty="0">
              <a:solidFill>
                <a:srgbClr val="7E002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DDA6ABE-A08B-63F1-D228-E61F68233BB5}"/>
              </a:ext>
            </a:extLst>
          </p:cNvPr>
          <p:cNvSpPr txBox="1"/>
          <p:nvPr/>
        </p:nvSpPr>
        <p:spPr>
          <a:xfrm>
            <a:off x="11671950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10</a:t>
            </a:r>
          </a:p>
        </p:txBody>
      </p:sp>
      <p:pic>
        <p:nvPicPr>
          <p:cNvPr id="7" name="Imagen 6" descr="Imagen que contiene exterior, luz, calle&#10;&#10;Descripción generada automáticamente">
            <a:extLst>
              <a:ext uri="{FF2B5EF4-FFF2-40B4-BE49-F238E27FC236}">
                <a16:creationId xmlns:a16="http://schemas.microsoft.com/office/drawing/2014/main" id="{4AF7D60B-BCEC-8990-1762-7B0FE489CD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66" y="2112128"/>
            <a:ext cx="914718" cy="914718"/>
          </a:xfrm>
          <a:prstGeom prst="rect">
            <a:avLst/>
          </a:prstGeom>
        </p:spPr>
      </p:pic>
      <p:pic>
        <p:nvPicPr>
          <p:cNvPr id="8" name="Imagen 7" descr="Imagen que contiene exterior, luz, calle&#10;&#10;Descripción generada automáticamente">
            <a:extLst>
              <a:ext uri="{FF2B5EF4-FFF2-40B4-BE49-F238E27FC236}">
                <a16:creationId xmlns:a16="http://schemas.microsoft.com/office/drawing/2014/main" id="{E0521B49-8AF9-B0F3-15E8-69E58D9DDA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058" y="5420062"/>
            <a:ext cx="914718" cy="914718"/>
          </a:xfrm>
          <a:prstGeom prst="rect">
            <a:avLst/>
          </a:prstGeom>
        </p:spPr>
      </p:pic>
      <p:pic>
        <p:nvPicPr>
          <p:cNvPr id="10" name="Imagen 9" descr="Texto&#10;&#10;Descripción generada automáticamente">
            <a:extLst>
              <a:ext uri="{FF2B5EF4-FFF2-40B4-BE49-F238E27FC236}">
                <a16:creationId xmlns:a16="http://schemas.microsoft.com/office/drawing/2014/main" id="{A89A9206-0C9E-95B5-E6FC-F13AA03841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6" y="2950319"/>
            <a:ext cx="1125997" cy="1125997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939EA9C-468C-3F36-3A16-9D44CD55C2A2}"/>
              </a:ext>
            </a:extLst>
          </p:cNvPr>
          <p:cNvCxnSpPr>
            <a:cxnSpLocks/>
          </p:cNvCxnSpPr>
          <p:nvPr/>
        </p:nvCxnSpPr>
        <p:spPr>
          <a:xfrm>
            <a:off x="7751428" y="4135039"/>
            <a:ext cx="260059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1129425-4D2A-128E-EC92-A3C7F1726E38}"/>
              </a:ext>
            </a:extLst>
          </p:cNvPr>
          <p:cNvCxnSpPr>
            <a:cxnSpLocks/>
          </p:cNvCxnSpPr>
          <p:nvPr/>
        </p:nvCxnSpPr>
        <p:spPr>
          <a:xfrm>
            <a:off x="7752826" y="4606221"/>
            <a:ext cx="250272" cy="0"/>
          </a:xfrm>
          <a:prstGeom prst="line">
            <a:avLst/>
          </a:prstGeom>
          <a:ln w="19050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38CD7C93-413B-4747-8F20-EA909F033A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490575">
            <a:off x="11012381" y="4844413"/>
            <a:ext cx="824608" cy="82460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F26F7F0-F08D-F308-6DFB-4620D5D79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502613">
            <a:off x="9666353" y="4762818"/>
            <a:ext cx="752594" cy="86070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A5E5CB7-EB2D-B76C-9C47-8BBDB5FDEA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149911">
            <a:off x="9143745" y="6142449"/>
            <a:ext cx="638668" cy="63866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2A56A4C-2800-CEC6-C82A-77D26045C4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0133931">
            <a:off x="8334632" y="5536432"/>
            <a:ext cx="812124" cy="81212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56F0882-F3A2-5DA0-00D9-A3B388460F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85516">
            <a:off x="10506899" y="6092412"/>
            <a:ext cx="938661" cy="938661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98E28305-D19B-59E4-4916-48A79DCB3CCD}"/>
              </a:ext>
            </a:extLst>
          </p:cNvPr>
          <p:cNvSpPr/>
          <p:nvPr/>
        </p:nvSpPr>
        <p:spPr>
          <a:xfrm>
            <a:off x="8869697" y="5348713"/>
            <a:ext cx="2584362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7667167-8614-CB92-F3BE-CECFE50BBC89}"/>
              </a:ext>
            </a:extLst>
          </p:cNvPr>
          <p:cNvSpPr txBox="1"/>
          <p:nvPr/>
        </p:nvSpPr>
        <p:spPr>
          <a:xfrm>
            <a:off x="8870999" y="5346708"/>
            <a:ext cx="2584362" cy="1015663"/>
          </a:xfrm>
          <a:prstGeom prst="rect">
            <a:avLst/>
          </a:prstGeom>
          <a:noFill/>
          <a:ln w="19050">
            <a:solidFill>
              <a:srgbClr val="7E0029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6000" dirty="0">
                <a:solidFill>
                  <a:srgbClr val="7E0029"/>
                </a:solidFill>
              </a:rPr>
              <a:t>30 SaaS</a:t>
            </a:r>
            <a:endParaRPr lang="es-ES_tradnl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497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83107">
        <p159:morph option="byObject"/>
      </p:transition>
    </mc:Choice>
    <mc:Fallback xmlns="">
      <p:transition advTm="83107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