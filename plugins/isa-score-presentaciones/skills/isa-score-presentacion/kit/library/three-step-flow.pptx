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91598C3-4103-E6FC-BA24-85247D11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007F4375-9C03-1121-7606-B30A1B051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443" y="-5692412"/>
            <a:ext cx="8818542" cy="360246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1417320"/>
            <a:ext cx="2834640" cy="3291840"/>
          </a:xfrm>
          <a:prstGeom prst="roundRect">
            <a:avLst/>
          </a:prstGeom>
          <a:solidFill>
            <a:srgbClr val="FCE7EF"/>
          </a:solidFill>
          <a:ln w="16510">
            <a:solidFill>
              <a:srgbClr val="A50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dirty="0">
                <a:solidFill>
                  <a:srgbClr val="1E1E1E"/>
                </a:solidFill>
                <a:latin typeface="Arial"/>
              </a:rPr>
              <a:t>Decision-makers
</a:t>
            </a:r>
            <a:r>
              <a:rPr lang="es-ES" sz="1600" b="1" dirty="0">
                <a:solidFill>
                  <a:srgbClr val="1E1E1E"/>
                </a:solidFill>
                <a:latin typeface="Arial"/>
              </a:rPr>
              <a:t>A</a:t>
            </a:r>
            <a:r>
              <a:rPr sz="1600" b="1" dirty="0" err="1">
                <a:solidFill>
                  <a:srgbClr val="1E1E1E"/>
                </a:solidFill>
                <a:latin typeface="Arial"/>
              </a:rPr>
              <a:t>sk</a:t>
            </a:r>
            <a:r>
              <a:rPr lang="es-ES" sz="1600" b="1" dirty="0">
                <a:solidFill>
                  <a:srgbClr val="1E1E1E"/>
                </a:solidFill>
                <a:latin typeface="Arial"/>
              </a:rPr>
              <a:t> PI </a:t>
            </a:r>
            <a:r>
              <a:rPr lang="es-ES" sz="1600" b="1" dirty="0" err="1">
                <a:solidFill>
                  <a:srgbClr val="1E1E1E"/>
                </a:solidFill>
                <a:latin typeface="Arial"/>
              </a:rPr>
              <a:t>tasks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:
“Which provider is cheaper for my usage?”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99928" y="2823006"/>
            <a:ext cx="1143000" cy="475488"/>
          </a:xfrm>
          <a:prstGeom prst="rightArrow">
            <a:avLst/>
          </a:prstGeom>
          <a:solidFill>
            <a:srgbClr val="A5003E"/>
          </a:solidFill>
          <a:ln>
            <a:solidFill>
              <a:srgbClr val="A50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983480" y="1417320"/>
            <a:ext cx="2331720" cy="3291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 dirty="0">
                <a:solidFill>
                  <a:srgbClr val="5A0022"/>
                </a:solidFill>
                <a:latin typeface="Arial"/>
              </a:rPr>
              <a:t>Semantic gap
+
</a:t>
            </a:r>
            <a:r>
              <a:rPr lang="es-ES" sz="1700" b="1" dirty="0" err="1">
                <a:solidFill>
                  <a:srgbClr val="5A0022"/>
                </a:solidFill>
                <a:latin typeface="Arial"/>
              </a:rPr>
              <a:t>Orchestration</a:t>
            </a:r>
            <a:r>
              <a:rPr sz="1700" b="1" dirty="0">
                <a:solidFill>
                  <a:srgbClr val="5A0022"/>
                </a:solidFill>
                <a:latin typeface="Arial"/>
              </a:rPr>
              <a:t> gap
What should be executed?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98080" y="2825496"/>
            <a:ext cx="1143000" cy="475488"/>
          </a:xfrm>
          <a:prstGeom prst="rightArrow">
            <a:avLst/>
          </a:prstGeom>
          <a:solidFill>
            <a:srgbClr val="00928E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823960" y="1417320"/>
            <a:ext cx="2743200" cy="3291840"/>
          </a:xfrm>
          <a:prstGeom prst="roundRect">
            <a:avLst/>
          </a:prstGeom>
          <a:solidFill>
            <a:srgbClr val="DEECFA"/>
          </a:solidFill>
          <a:ln w="16510">
            <a:solidFill>
              <a:srgbClr val="497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dirty="0">
                <a:solidFill>
                  <a:srgbClr val="1E1E1E"/>
                </a:solidFill>
                <a:latin typeface="Arial"/>
              </a:rPr>
              <a:t>PI tools
</a:t>
            </a:r>
            <a:r>
              <a:rPr lang="es-ES" sz="1600" b="1" dirty="0">
                <a:solidFill>
                  <a:srgbClr val="1E1E1E"/>
                </a:solidFill>
                <a:latin typeface="Arial"/>
              </a:rPr>
              <a:t>R</a:t>
            </a:r>
            <a:r>
              <a:rPr sz="1600" b="1" dirty="0" err="1">
                <a:solidFill>
                  <a:srgbClr val="1E1E1E"/>
                </a:solidFill>
                <a:latin typeface="Arial"/>
              </a:rPr>
              <a:t>equire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 precise actions, parameters and pricing artifacts.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5A0022"/>
                </a:solidFill>
                <a:latin typeface="Arial"/>
              </a:rPr>
              <a:t>Pricing Intelligence is the discipline that turns pricing data into actionable knowledge.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AF2E559C-DFE2-DF34-8A92-8D587209671D}"/>
              </a:ext>
            </a:extLst>
          </p:cNvPr>
          <p:cNvSpPr txBox="1">
            <a:spLocks/>
          </p:cNvSpPr>
          <p:nvPr/>
        </p:nvSpPr>
        <p:spPr>
          <a:xfrm>
            <a:off x="609600" y="271939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Intelligence</a:t>
            </a:r>
            <a:r>
              <a:rPr lang="es-ES" dirty="0"/>
              <a:t> (PI)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9F4CE02-4B3E-F128-F7CE-D543C74237DD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7366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1" animBg="1"/>
      <p:bldP spid="25" grpId="0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