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41" r:id="rId11"/>
  </p:sldMasterIdLst>
  <p:notesMasterIdLst>
    <p:notesMasterId r:id="rId54"/>
  </p:notesMasterIdLst>
  <p:sldIdLst>
    <p:sldId id="25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5.xml"/><Relationship Id="rId2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3.png"/><Relationship Id="rId3" Type="http://schemas.openxmlformats.org/officeDocument/2006/relationships/image" Target="../media/image1.svg"/><Relationship Id="rId4" Type="http://schemas.openxmlformats.org/officeDocument/2006/relationships/image" Target="../media/image4.png"/><Relationship Id="rId5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o 35">
            <a:extLst>
              <a:ext uri="{FF2B5EF4-FFF2-40B4-BE49-F238E27FC236}">
                <a16:creationId xmlns:a16="http://schemas.microsoft.com/office/drawing/2014/main" id="{63550DE0-99ED-F363-8848-F4FA2A74759C}"/>
              </a:ext>
            </a:extLst>
          </p:cNvPr>
          <p:cNvGrpSpPr/>
          <p:nvPr/>
        </p:nvGrpSpPr>
        <p:grpSpPr>
          <a:xfrm>
            <a:off x="2349870" y="1629915"/>
            <a:ext cx="7346130" cy="3999593"/>
            <a:chOff x="2349870" y="1629915"/>
            <a:chExt cx="7346130" cy="3999593"/>
          </a:xfrm>
        </p:grpSpPr>
        <p:sp>
          <p:nvSpPr>
            <p:cNvPr id="6" name="Arco 5">
              <a:extLst>
                <a:ext uri="{FF2B5EF4-FFF2-40B4-BE49-F238E27FC236}">
                  <a16:creationId xmlns:a16="http://schemas.microsoft.com/office/drawing/2014/main" id="{6919F6D4-3F02-4D02-815E-A9DA88A3007E}"/>
                </a:ext>
              </a:extLst>
            </p:cNvPr>
            <p:cNvSpPr/>
            <p:nvPr/>
          </p:nvSpPr>
          <p:spPr>
            <a:xfrm>
              <a:off x="2496000" y="1836220"/>
              <a:ext cx="3600000" cy="3600000"/>
            </a:xfrm>
            <a:prstGeom prst="arc">
              <a:avLst>
                <a:gd name="adj1" fmla="val 5228238"/>
                <a:gd name="adj2" fmla="val 185089"/>
              </a:avLst>
            </a:prstGeom>
            <a:ln w="1524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Arco 6">
              <a:extLst>
                <a:ext uri="{FF2B5EF4-FFF2-40B4-BE49-F238E27FC236}">
                  <a16:creationId xmlns:a16="http://schemas.microsoft.com/office/drawing/2014/main" id="{62B66CDC-470A-6A4A-24A8-7D0435376D72}"/>
                </a:ext>
              </a:extLst>
            </p:cNvPr>
            <p:cNvSpPr/>
            <p:nvPr/>
          </p:nvSpPr>
          <p:spPr>
            <a:xfrm flipH="1" flipV="1">
              <a:off x="6096000" y="1836220"/>
              <a:ext cx="3600000" cy="3600000"/>
            </a:xfrm>
            <a:prstGeom prst="arc">
              <a:avLst>
                <a:gd name="adj1" fmla="val 5228238"/>
                <a:gd name="adj2" fmla="val 21548950"/>
              </a:avLst>
            </a:prstGeom>
            <a:ln w="152400" cmpd="sng">
              <a:solidFill>
                <a:srgbClr val="002060"/>
              </a:solidFill>
              <a:prstDash val="solid"/>
              <a:head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Arco 8">
              <a:extLst>
                <a:ext uri="{FF2B5EF4-FFF2-40B4-BE49-F238E27FC236}">
                  <a16:creationId xmlns:a16="http://schemas.microsoft.com/office/drawing/2014/main" id="{6270E0D6-362C-2E8E-D263-2AC4F593364E}"/>
                </a:ext>
              </a:extLst>
            </p:cNvPr>
            <p:cNvSpPr/>
            <p:nvPr/>
          </p:nvSpPr>
          <p:spPr>
            <a:xfrm>
              <a:off x="2496000" y="1836220"/>
              <a:ext cx="3600000" cy="3600000"/>
            </a:xfrm>
            <a:prstGeom prst="arc">
              <a:avLst>
                <a:gd name="adj1" fmla="val 20251234"/>
                <a:gd name="adj2" fmla="val 185089"/>
              </a:avLst>
            </a:prstGeom>
            <a:ln w="15240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Arco 9">
              <a:extLst>
                <a:ext uri="{FF2B5EF4-FFF2-40B4-BE49-F238E27FC236}">
                  <a16:creationId xmlns:a16="http://schemas.microsoft.com/office/drawing/2014/main" id="{35BE9915-961D-E614-6215-04CC8272F1D9}"/>
                </a:ext>
              </a:extLst>
            </p:cNvPr>
            <p:cNvSpPr/>
            <p:nvPr/>
          </p:nvSpPr>
          <p:spPr>
            <a:xfrm flipH="1" flipV="1">
              <a:off x="6096000" y="1836220"/>
              <a:ext cx="3600000" cy="3600000"/>
            </a:xfrm>
            <a:prstGeom prst="arc">
              <a:avLst>
                <a:gd name="adj1" fmla="val 19777555"/>
                <a:gd name="adj2" fmla="val 21548950"/>
              </a:avLst>
            </a:prstGeom>
            <a:ln w="152400" cmpd="sng">
              <a:solidFill>
                <a:schemeClr val="bg1">
                  <a:lumMod val="75000"/>
                </a:schemeClr>
              </a:solidFill>
              <a:prstDash val="solid"/>
              <a:head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F97FC781-E376-BA73-32EC-D150AE2B90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405" y="4546906"/>
              <a:ext cx="288074" cy="267629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1AC1CCD7-4A3F-F83E-782C-4B66EF0C7B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9870" y="3008964"/>
              <a:ext cx="403287" cy="96644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E86E03BD-B70E-30C4-AF4B-FDC93DB6C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6288" y="1629915"/>
              <a:ext cx="0" cy="444212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7C0E2558-E8E4-F065-7B2D-0A2498DE6B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4004" y="2877015"/>
              <a:ext cx="351732" cy="131949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366429D2-D2DC-308D-1BDE-F01B76879B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2130" y="4493941"/>
              <a:ext cx="175866" cy="105931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D766F815-52DB-896B-4B27-97FAE61FE0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8420" y="5242932"/>
              <a:ext cx="0" cy="386576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F2919124-EF44-B131-D7EA-123E0B4650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32521" y="4382429"/>
              <a:ext cx="445064" cy="217443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D0E2F16C-ACB7-A69C-EAA7-B4BA9DA620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7136" y="2653992"/>
              <a:ext cx="333207" cy="223023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Elipse 36">
            <a:extLst>
              <a:ext uri="{FF2B5EF4-FFF2-40B4-BE49-F238E27FC236}">
                <a16:creationId xmlns:a16="http://schemas.microsoft.com/office/drawing/2014/main" id="{E9ADB1B2-2047-F7E7-889B-B957D2D19459}"/>
              </a:ext>
            </a:extLst>
          </p:cNvPr>
          <p:cNvSpPr/>
          <p:nvPr/>
        </p:nvSpPr>
        <p:spPr>
          <a:xfrm>
            <a:off x="2856000" y="2196220"/>
            <a:ext cx="2880000" cy="2880000"/>
          </a:xfrm>
          <a:prstGeom prst="ellipse">
            <a:avLst/>
          </a:prstGeom>
          <a:solidFill>
            <a:srgbClr val="B2F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7E80C09E-B41C-9406-1CD4-D776ADBE22B1}"/>
              </a:ext>
            </a:extLst>
          </p:cNvPr>
          <p:cNvSpPr/>
          <p:nvPr/>
        </p:nvSpPr>
        <p:spPr>
          <a:xfrm>
            <a:off x="6470868" y="2201796"/>
            <a:ext cx="2880000" cy="2880000"/>
          </a:xfrm>
          <a:prstGeom prst="ellipse">
            <a:avLst/>
          </a:prstGeom>
          <a:solidFill>
            <a:srgbClr val="D4E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37F61CD-9FEA-2A93-BE7E-1522979BE76D}"/>
              </a:ext>
            </a:extLst>
          </p:cNvPr>
          <p:cNvSpPr txBox="1"/>
          <p:nvPr/>
        </p:nvSpPr>
        <p:spPr>
          <a:xfrm>
            <a:off x="1262973" y="11156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Stage</a:t>
            </a:r>
            <a:r>
              <a:rPr lang="es-ES_tradnl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01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05468E9-F83D-E0F9-2C02-9E5012E08D0E}"/>
              </a:ext>
            </a:extLst>
          </p:cNvPr>
          <p:cNvSpPr txBox="1"/>
          <p:nvPr/>
        </p:nvSpPr>
        <p:spPr>
          <a:xfrm>
            <a:off x="1262973" y="1577282"/>
            <a:ext cx="2023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Verify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validity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</a:t>
            </a: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results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endParaRPr lang="es-ES_tradnl" dirty="0">
              <a:solidFill>
                <a:schemeClr val="bg1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-art</a:t>
            </a:r>
          </a:p>
          <a:p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B9F47F7-826B-1DA9-602F-D14D7F947F5D}"/>
              </a:ext>
            </a:extLst>
          </p:cNvPr>
          <p:cNvSpPr txBox="1"/>
          <p:nvPr/>
        </p:nvSpPr>
        <p:spPr>
          <a:xfrm>
            <a:off x="9232521" y="489626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dirty="0" err="1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Stage</a:t>
            </a:r>
            <a:r>
              <a:rPr lang="es-ES_tradnl" sz="2400" b="1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02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DF207E9-81CC-5E4B-9DEE-5842C1FC03DE}"/>
              </a:ext>
            </a:extLst>
          </p:cNvPr>
          <p:cNvSpPr txBox="1"/>
          <p:nvPr/>
        </p:nvSpPr>
        <p:spPr>
          <a:xfrm>
            <a:off x="9232521" y="5357930"/>
            <a:ext cx="30396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benchmark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inconsistencies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evaluate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many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can </a:t>
            </a:r>
            <a:r>
              <a:rPr lang="es-ES_tradnl" b="1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detect</a:t>
            </a:r>
            <a:endParaRPr lang="es-ES_tradnl" b="1" dirty="0">
              <a:solidFill>
                <a:schemeClr val="bg1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D4B34BAF-5302-7FC2-6257-ABFAFD5E4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 Process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7" name="Gráfico 46">
            <a:extLst>
              <a:ext uri="{FF2B5EF4-FFF2-40B4-BE49-F238E27FC236}">
                <a16:creationId xmlns:a16="http://schemas.microsoft.com/office/drawing/2014/main" id="{A96EEF1E-D61E-091E-7788-231C2762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4506" y="2715323"/>
            <a:ext cx="1512729" cy="1944937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881E573A-2433-2FBA-1544-B6CB09B7D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9894" y="2693021"/>
            <a:ext cx="1611105" cy="1944937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7C05C315-D80B-5143-0BF2-D9DC1FE02AA8}"/>
              </a:ext>
            </a:extLst>
          </p:cNvPr>
          <p:cNvSpPr txBox="1"/>
          <p:nvPr/>
        </p:nvSpPr>
        <p:spPr>
          <a:xfrm>
            <a:off x="0" y="6322295"/>
            <a:ext cx="8503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García-Fernández, A., Parejo, J. A., Cavero, F. J., &amp; Ruiz-Cortés, A. (2024, </a:t>
            </a:r>
            <a:r>
              <a:rPr lang="es-ES" sz="1400" dirty="0" err="1"/>
              <a:t>December</a:t>
            </a:r>
            <a:r>
              <a:rPr lang="es-ES" sz="1400" dirty="0"/>
              <a:t>). Racing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market</a:t>
            </a:r>
            <a:r>
              <a:rPr lang="es-ES" sz="1400" dirty="0"/>
              <a:t>: </a:t>
            </a:r>
            <a:r>
              <a:rPr lang="es-ES" sz="1400" dirty="0" err="1"/>
              <a:t>An</a:t>
            </a:r>
            <a:r>
              <a:rPr lang="es-ES" sz="1400" dirty="0"/>
              <a:t> </a:t>
            </a:r>
            <a:r>
              <a:rPr lang="es-ES" sz="1400" dirty="0" err="1"/>
              <a:t>industry</a:t>
            </a:r>
            <a:r>
              <a:rPr lang="es-ES" sz="1400" dirty="0"/>
              <a:t> </a:t>
            </a:r>
            <a:r>
              <a:rPr lang="es-ES" sz="1400" dirty="0" err="1"/>
              <a:t>support</a:t>
            </a:r>
            <a:r>
              <a:rPr lang="es-ES" sz="1400" dirty="0"/>
              <a:t> </a:t>
            </a:r>
          </a:p>
          <a:p>
            <a:r>
              <a:rPr lang="es-ES" sz="1400" dirty="0" err="1"/>
              <a:t>analysis</a:t>
            </a:r>
            <a:r>
              <a:rPr lang="es-ES" sz="1400" dirty="0"/>
              <a:t> </a:t>
            </a:r>
            <a:r>
              <a:rPr lang="es-ES" sz="1400" dirty="0" err="1"/>
              <a:t>for</a:t>
            </a:r>
            <a:r>
              <a:rPr lang="es-ES" sz="1400" dirty="0"/>
              <a:t> </a:t>
            </a:r>
            <a:r>
              <a:rPr lang="es-ES" sz="1400" dirty="0" err="1"/>
              <a:t>pricing-driven</a:t>
            </a:r>
            <a:r>
              <a:rPr lang="es-ES" sz="1400" dirty="0"/>
              <a:t> </a:t>
            </a:r>
            <a:r>
              <a:rPr lang="es-ES" sz="1400" dirty="0" err="1"/>
              <a:t>devops</a:t>
            </a:r>
            <a:r>
              <a:rPr lang="es-ES" sz="1400" dirty="0"/>
              <a:t> in SaaS. In </a:t>
            </a:r>
            <a:r>
              <a:rPr lang="es-ES" sz="1400" i="1" dirty="0"/>
              <a:t>International </a:t>
            </a:r>
            <a:r>
              <a:rPr lang="es-ES" sz="1400" i="1" dirty="0" err="1"/>
              <a:t>Conference</a:t>
            </a:r>
            <a:r>
              <a:rPr lang="es-ES" sz="1400" i="1" dirty="0"/>
              <a:t> </a:t>
            </a:r>
            <a:r>
              <a:rPr lang="es-ES" sz="1400" i="1" dirty="0" err="1"/>
              <a:t>on</a:t>
            </a:r>
            <a:r>
              <a:rPr lang="es-ES" sz="1400" i="1" dirty="0"/>
              <a:t> </a:t>
            </a:r>
            <a:r>
              <a:rPr lang="es-ES" sz="1400" i="1" dirty="0" err="1"/>
              <a:t>Service-Oriented</a:t>
            </a:r>
            <a:r>
              <a:rPr lang="es-ES" sz="1400" i="1" dirty="0"/>
              <a:t> Computing</a:t>
            </a:r>
            <a:r>
              <a:rPr lang="es-ES" sz="1400" dirty="0"/>
              <a:t> (pp. 260-275). </a:t>
            </a:r>
            <a:endParaRPr lang="es-ES_tradnl" sz="14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1A496EF-8D16-6B78-465D-447D8B23948D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24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099651"/>
      </p:ext>
    </p:extLst>
  </p:cSld>
  <p:clrMapOvr>
    <a:masterClrMapping/>
  </p:clrMapOvr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