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  <p:sldMasterId id="2147483754" r:id="rId13"/>
  </p:sldMasterIdLst>
  <p:notesMasterIdLst>
    <p:notesMasterId r:id="rId54"/>
  </p:notesMasterIdLst>
  <p:sldIdLst>
    <p:sldId id="256" r:id="rId12"/>
    <p:sldId id="25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Master" Target="slideMasters/slideMaster3.xml"/><Relationship Id="rId14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1/2/26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1/2/26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1/2/26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1/2/26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1/2/26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2.xml"/><Relationship Id="rId1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1/2/26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A7314D6-E4D1-000D-53CF-249A4B88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6BD7A72-6592-A553-A7F1-1E3D7BCE0EA3}"/>
              </a:ext>
            </a:extLst>
          </p:cNvPr>
          <p:cNvSpPr txBox="1"/>
          <p:nvPr/>
        </p:nvSpPr>
        <p:spPr>
          <a:xfrm>
            <a:off x="969818" y="1997839"/>
            <a:ext cx="9947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Pricing-driven Development and Operation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Conclusions &amp; Future 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9CE339-53E5-5AE8-8FF4-065B59EB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18655"/>
            <a:ext cx="10515600" cy="1325563"/>
          </a:xfrm>
        </p:spPr>
        <p:txBody>
          <a:bodyPr/>
          <a:lstStyle/>
          <a:p>
            <a:pPr>
              <a:defRPr sz="3600" b="1">
                <a:solidFill>
                  <a:srgbClr val="800020"/>
                </a:solidFill>
                <a:latin typeface="Roboto"/>
              </a:defRPr>
            </a:pPr>
            <a:r>
              <a:rPr lang="en-US" dirty="0"/>
              <a:t>Table of Contents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446CA8-3B5E-A331-EB74-FD76F3E419EC}"/>
              </a:ext>
            </a:extLst>
          </p:cNvPr>
          <p:cNvSpPr txBox="1"/>
          <p:nvPr/>
        </p:nvSpPr>
        <p:spPr>
          <a:xfrm>
            <a:off x="11843828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6550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E0C419A-3B92-A6BC-B1E9-AC250ACB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8D85D70-B02B-FD76-3E89-D64A31BFEFB1}"/>
              </a:ext>
            </a:extLst>
          </p:cNvPr>
          <p:cNvSpPr txBox="1"/>
          <p:nvPr/>
        </p:nvSpPr>
        <p:spPr>
          <a:xfrm>
            <a:off x="944418" y="1644218"/>
            <a:ext cx="99475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600" dirty="0"/>
              <a:t> 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</a:t>
            </a:r>
            <a:r>
              <a:rPr lang="en-US" sz="3600" b="1" dirty="0"/>
              <a:t>Pricing-driven Development and Operation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600" b="1" dirty="0"/>
              <a:t> Pricing &amp; Subscription Modeling</a:t>
            </a:r>
          </a:p>
          <a:p>
            <a:pPr lvl="1"/>
            <a:r>
              <a:rPr lang="en-US" sz="3600" dirty="0"/>
              <a:t>2. Pricing Design</a:t>
            </a:r>
          </a:p>
          <a:p>
            <a:pPr lvl="1"/>
            <a:r>
              <a:rPr lang="en-US" sz="3600" dirty="0"/>
              <a:t>3. Pricing-driven Self-Adaptation</a:t>
            </a:r>
          </a:p>
          <a:p>
            <a:pPr lvl="1"/>
            <a:r>
              <a:rPr lang="en-US" sz="3600" dirty="0"/>
              <a:t>4. Subscription Compliance Testing</a:t>
            </a:r>
          </a:p>
          <a:p>
            <a:pPr lvl="1"/>
            <a:r>
              <a:rPr lang="en-US" sz="3600" dirty="0"/>
              <a:t>5. Automated Analysis of Pricings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Conclusions &amp; Future Work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495342-36BF-BC97-9FE3-B00F930F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18655"/>
            <a:ext cx="10515600" cy="1325563"/>
          </a:xfrm>
        </p:spPr>
        <p:txBody>
          <a:bodyPr/>
          <a:lstStyle/>
          <a:p>
            <a:pPr>
              <a:defRPr sz="3600" b="1">
                <a:solidFill>
                  <a:srgbClr val="800020"/>
                </a:solidFill>
                <a:latin typeface="Roboto"/>
              </a:defRPr>
            </a:pPr>
            <a:r>
              <a:rPr lang="en-US" dirty="0"/>
              <a:t>Table of Contents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F2D2FA-F163-9235-B0F8-B9A912821BBD}"/>
              </a:ext>
            </a:extLst>
          </p:cNvPr>
          <p:cNvSpPr txBox="1"/>
          <p:nvPr/>
        </p:nvSpPr>
        <p:spPr>
          <a:xfrm>
            <a:off x="11664403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16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459316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