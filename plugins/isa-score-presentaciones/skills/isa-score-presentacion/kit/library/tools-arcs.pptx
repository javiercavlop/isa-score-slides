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30/6/25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30/6/25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30/6/25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/>
          <p:nvPr/>
        </p:nvSpPr>
        <p:spPr>
          <a:xfrm>
            <a:off x="7287866" y="3818685"/>
            <a:ext cx="1222345" cy="1222345"/>
          </a:xfrm>
          <a:custGeom>
            <a:avLst/>
            <a:gdLst/>
            <a:ahLst/>
            <a:cxnLst/>
            <a:rect l="l" t="t" r="r" b="b"/>
            <a:pathLst>
              <a:path w="28993" h="28993" extrusionOk="0">
                <a:moveTo>
                  <a:pt x="14503" y="1"/>
                </a:moveTo>
                <a:cubicBezTo>
                  <a:pt x="6490" y="1"/>
                  <a:pt x="1" y="6490"/>
                  <a:pt x="1" y="14502"/>
                </a:cubicBezTo>
                <a:cubicBezTo>
                  <a:pt x="1" y="22503"/>
                  <a:pt x="6490" y="28992"/>
                  <a:pt x="14503" y="28992"/>
                </a:cubicBezTo>
                <a:cubicBezTo>
                  <a:pt x="22504" y="28992"/>
                  <a:pt x="28992" y="22503"/>
                  <a:pt x="28992" y="14502"/>
                </a:cubicBezTo>
                <a:cubicBezTo>
                  <a:pt x="28992" y="6490"/>
                  <a:pt x="22504" y="1"/>
                  <a:pt x="145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A87159A-FB4E-E475-D08E-29350F31524A}"/>
              </a:ext>
            </a:extLst>
          </p:cNvPr>
          <p:cNvGrpSpPr/>
          <p:nvPr/>
        </p:nvGrpSpPr>
        <p:grpSpPr>
          <a:xfrm>
            <a:off x="2671226" y="1383930"/>
            <a:ext cx="2562741" cy="3296292"/>
            <a:chOff x="2671226" y="1383930"/>
            <a:chExt cx="2562741" cy="3296292"/>
          </a:xfrm>
        </p:grpSpPr>
        <p:sp>
          <p:nvSpPr>
            <p:cNvPr id="234" name="Google Shape;234;p20"/>
            <p:cNvSpPr/>
            <p:nvPr/>
          </p:nvSpPr>
          <p:spPr>
            <a:xfrm>
              <a:off x="3141069" y="1383930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chemeClr val="accent4"/>
                  </a:solidFill>
                  <a:latin typeface="Roboto"/>
                  <a:ea typeface="Roboto"/>
                  <a:cs typeface="Roboto"/>
                  <a:sym typeface="Roboto"/>
                </a:rPr>
                <a:t>Togglz</a:t>
              </a:r>
              <a:r>
                <a:rPr lang="en-US" sz="2800" b="1" dirty="0">
                  <a:solidFill>
                    <a:schemeClr val="accent4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2908585" y="2706317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66" h="21408" extrusionOk="0">
                  <a:moveTo>
                    <a:pt x="2132" y="18252"/>
                  </a:moveTo>
                  <a:cubicBezTo>
                    <a:pt x="3180" y="9204"/>
                    <a:pt x="10883" y="2131"/>
                    <a:pt x="20217" y="2131"/>
                  </a:cubicBezTo>
                  <a:cubicBezTo>
                    <a:pt x="30242" y="2131"/>
                    <a:pt x="38422" y="10311"/>
                    <a:pt x="38422" y="20336"/>
                  </a:cubicBezTo>
                  <a:cubicBezTo>
                    <a:pt x="38422" y="20931"/>
                    <a:pt x="38898" y="21407"/>
                    <a:pt x="39494" y="21407"/>
                  </a:cubicBezTo>
                  <a:cubicBezTo>
                    <a:pt x="40089" y="21407"/>
                    <a:pt x="40565" y="20931"/>
                    <a:pt x="40565" y="20336"/>
                  </a:cubicBezTo>
                  <a:cubicBezTo>
                    <a:pt x="40565" y="9120"/>
                    <a:pt x="31433" y="0"/>
                    <a:pt x="20217" y="0"/>
                  </a:cubicBezTo>
                  <a:cubicBezTo>
                    <a:pt x="9752" y="0"/>
                    <a:pt x="1108" y="7941"/>
                    <a:pt x="1" y="18121"/>
                  </a:cubicBezTo>
                  <a:cubicBezTo>
                    <a:pt x="298" y="18002"/>
                    <a:pt x="620" y="17931"/>
                    <a:pt x="953" y="17931"/>
                  </a:cubicBezTo>
                  <a:cubicBezTo>
                    <a:pt x="1370" y="17931"/>
                    <a:pt x="1775" y="18050"/>
                    <a:pt x="2132" y="182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2" name="Google Shape;248;p20">
              <a:extLst>
                <a:ext uri="{FF2B5EF4-FFF2-40B4-BE49-F238E27FC236}">
                  <a16:creationId xmlns:a16="http://schemas.microsoft.com/office/drawing/2014/main" id="{D6186212-6206-2A11-D515-8A714EBFA236}"/>
                </a:ext>
              </a:extLst>
            </p:cNvPr>
            <p:cNvSpPr/>
            <p:nvPr/>
          </p:nvSpPr>
          <p:spPr>
            <a:xfrm>
              <a:off x="3066072" y="2880222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pic>
          <p:nvPicPr>
            <p:cNvPr id="13" name="Imagen 12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2039AC5A-917D-C7AB-930D-F021D4A00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9091" y="3499500"/>
              <a:ext cx="1262788" cy="527233"/>
            </a:xfrm>
            <a:prstGeom prst="rect">
              <a:avLst/>
            </a:prstGeom>
          </p:spPr>
        </p:pic>
        <p:sp>
          <p:nvSpPr>
            <p:cNvPr id="15" name="Google Shape;238;p20">
              <a:extLst>
                <a:ext uri="{FF2B5EF4-FFF2-40B4-BE49-F238E27FC236}">
                  <a16:creationId xmlns:a16="http://schemas.microsoft.com/office/drawing/2014/main" id="{97ADCA32-79DA-63AA-6208-DD09B5C84CE2}"/>
                </a:ext>
              </a:extLst>
            </p:cNvPr>
            <p:cNvSpPr txBox="1">
              <a:spLocks/>
            </p:cNvSpPr>
            <p:nvPr/>
          </p:nvSpPr>
          <p:spPr>
            <a:xfrm>
              <a:off x="2671226" y="1926539"/>
              <a:ext cx="256274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IMPOSSIBLE</a:t>
              </a:r>
              <a:r>
                <a:rPr lang="en-US" sz="1600" dirty="0">
                  <a:solidFill>
                    <a:schemeClr val="dk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hot context change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management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BD1C7C6A-D9A3-FBB5-6250-16FEB408A835}"/>
              </a:ext>
            </a:extLst>
          </p:cNvPr>
          <p:cNvGrpSpPr/>
          <p:nvPr/>
        </p:nvGrpSpPr>
        <p:grpSpPr>
          <a:xfrm>
            <a:off x="4659164" y="3190875"/>
            <a:ext cx="2562741" cy="3202602"/>
            <a:chOff x="4659164" y="3190875"/>
            <a:chExt cx="2562741" cy="3202602"/>
          </a:xfrm>
        </p:grpSpPr>
        <p:sp>
          <p:nvSpPr>
            <p:cNvPr id="235" name="Google Shape;235;p20"/>
            <p:cNvSpPr/>
            <p:nvPr/>
          </p:nvSpPr>
          <p:spPr>
            <a:xfrm>
              <a:off x="5127607" y="5045936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DevCycle</a:t>
              </a:r>
              <a:r>
                <a:rPr lang="en-US" sz="5333" b="1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4974932" y="4105977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53" h="21408" extrusionOk="0">
                  <a:moveTo>
                    <a:pt x="0" y="3287"/>
                  </a:moveTo>
                  <a:cubicBezTo>
                    <a:pt x="1095" y="13467"/>
                    <a:pt x="9739" y="21408"/>
                    <a:pt x="20205" y="21408"/>
                  </a:cubicBezTo>
                  <a:cubicBezTo>
                    <a:pt x="31433" y="21408"/>
                    <a:pt x="40553" y="12288"/>
                    <a:pt x="40553" y="1072"/>
                  </a:cubicBezTo>
                  <a:cubicBezTo>
                    <a:pt x="40553" y="477"/>
                    <a:pt x="40077" y="1"/>
                    <a:pt x="39481" y="1"/>
                  </a:cubicBezTo>
                  <a:cubicBezTo>
                    <a:pt x="38886" y="1"/>
                    <a:pt x="38410" y="477"/>
                    <a:pt x="38410" y="1072"/>
                  </a:cubicBezTo>
                  <a:cubicBezTo>
                    <a:pt x="38410" y="11097"/>
                    <a:pt x="30230" y="19265"/>
                    <a:pt x="20205" y="19265"/>
                  </a:cubicBezTo>
                  <a:cubicBezTo>
                    <a:pt x="10871" y="19265"/>
                    <a:pt x="3167" y="12216"/>
                    <a:pt x="2119" y="3156"/>
                  </a:cubicBezTo>
                  <a:cubicBezTo>
                    <a:pt x="1762" y="3358"/>
                    <a:pt x="1369" y="3465"/>
                    <a:pt x="929" y="3465"/>
                  </a:cubicBezTo>
                  <a:cubicBezTo>
                    <a:pt x="607" y="3477"/>
                    <a:pt x="274" y="3406"/>
                    <a:pt x="0" y="32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3" name="Google Shape;248;p20">
              <a:extLst>
                <a:ext uri="{FF2B5EF4-FFF2-40B4-BE49-F238E27FC236}">
                  <a16:creationId xmlns:a16="http://schemas.microsoft.com/office/drawing/2014/main" id="{B363FA96-D166-C3B2-4102-BBAB1EEC33D4}"/>
                </a:ext>
              </a:extLst>
            </p:cNvPr>
            <p:cNvSpPr/>
            <p:nvPr/>
          </p:nvSpPr>
          <p:spPr>
            <a:xfrm>
              <a:off x="5154932" y="3190875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pic>
          <p:nvPicPr>
            <p:cNvPr id="16" name="Imagen 15" descr="Imagen que contiene dibujo, plato&#10;&#10;El contenido generado por IA puede ser incorrecto.">
              <a:extLst>
                <a:ext uri="{FF2B5EF4-FFF2-40B4-BE49-F238E27FC236}">
                  <a16:creationId xmlns:a16="http://schemas.microsoft.com/office/drawing/2014/main" id="{D15A5029-73D7-1854-7B19-ED39FF04E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89" r="79979" b="18857"/>
            <a:stretch>
              <a:fillRect/>
            </a:stretch>
          </p:blipFill>
          <p:spPr>
            <a:xfrm>
              <a:off x="5649499" y="3668422"/>
              <a:ext cx="793739" cy="890047"/>
            </a:xfrm>
            <a:prstGeom prst="rect">
              <a:avLst/>
            </a:prstGeom>
          </p:spPr>
        </p:pic>
        <p:sp>
          <p:nvSpPr>
            <p:cNvPr id="17" name="Google Shape;238;p20">
              <a:extLst>
                <a:ext uri="{FF2B5EF4-FFF2-40B4-BE49-F238E27FC236}">
                  <a16:creationId xmlns:a16="http://schemas.microsoft.com/office/drawing/2014/main" id="{711FC978-AFD6-620E-9B9D-477278755776}"/>
                </a:ext>
              </a:extLst>
            </p:cNvPr>
            <p:cNvSpPr txBox="1">
              <a:spLocks/>
            </p:cNvSpPr>
            <p:nvPr/>
          </p:nvSpPr>
          <p:spPr>
            <a:xfrm>
              <a:off x="4659164" y="5698444"/>
              <a:ext cx="256274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Rules must be configured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b="1" dirty="0">
                  <a:solidFill>
                    <a:srgbClr val="FFA43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MANUALLY</a:t>
              </a:r>
              <a:endParaRPr lang="en-US" sz="1600" dirty="0">
                <a:solidFill>
                  <a:srgbClr val="FFA4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C6CB56D-AA8D-DCD9-A3E0-D13E4430BFC6}"/>
              </a:ext>
            </a:extLst>
          </p:cNvPr>
          <p:cNvGrpSpPr/>
          <p:nvPr/>
        </p:nvGrpSpPr>
        <p:grpSpPr>
          <a:xfrm>
            <a:off x="6641573" y="1250076"/>
            <a:ext cx="2959411" cy="3452448"/>
            <a:chOff x="6641573" y="1250076"/>
            <a:chExt cx="2959411" cy="3452448"/>
          </a:xfrm>
        </p:grpSpPr>
        <p:sp>
          <p:nvSpPr>
            <p:cNvPr id="236" name="Google Shape;236;p20"/>
            <p:cNvSpPr/>
            <p:nvPr/>
          </p:nvSpPr>
          <p:spPr>
            <a:xfrm>
              <a:off x="7253879" y="1250076"/>
              <a:ext cx="17348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Unleash</a:t>
              </a:r>
              <a:r>
                <a:rPr lang="en-US" sz="5333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7041279" y="2702569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54" h="21408" extrusionOk="0">
                  <a:moveTo>
                    <a:pt x="2132" y="18252"/>
                  </a:moveTo>
                  <a:cubicBezTo>
                    <a:pt x="3168" y="9204"/>
                    <a:pt x="10883" y="2131"/>
                    <a:pt x="20217" y="2131"/>
                  </a:cubicBezTo>
                  <a:cubicBezTo>
                    <a:pt x="30243" y="2131"/>
                    <a:pt x="38410" y="10311"/>
                    <a:pt x="38410" y="20336"/>
                  </a:cubicBezTo>
                  <a:cubicBezTo>
                    <a:pt x="38410" y="20931"/>
                    <a:pt x="38886" y="21407"/>
                    <a:pt x="39482" y="21407"/>
                  </a:cubicBezTo>
                  <a:cubicBezTo>
                    <a:pt x="40077" y="21407"/>
                    <a:pt x="40553" y="20931"/>
                    <a:pt x="40553" y="20336"/>
                  </a:cubicBezTo>
                  <a:cubicBezTo>
                    <a:pt x="40553" y="9120"/>
                    <a:pt x="31433" y="0"/>
                    <a:pt x="20217" y="0"/>
                  </a:cubicBezTo>
                  <a:cubicBezTo>
                    <a:pt x="9752" y="0"/>
                    <a:pt x="1096" y="7941"/>
                    <a:pt x="1" y="18121"/>
                  </a:cubicBezTo>
                  <a:cubicBezTo>
                    <a:pt x="298" y="18002"/>
                    <a:pt x="608" y="17931"/>
                    <a:pt x="953" y="17931"/>
                  </a:cubicBezTo>
                  <a:cubicBezTo>
                    <a:pt x="1370" y="17931"/>
                    <a:pt x="1775" y="18050"/>
                    <a:pt x="2132" y="18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4" name="Google Shape;248;p20">
              <a:extLst>
                <a:ext uri="{FF2B5EF4-FFF2-40B4-BE49-F238E27FC236}">
                  <a16:creationId xmlns:a16="http://schemas.microsoft.com/office/drawing/2014/main" id="{95A61172-5E8D-7E1E-1811-2B8C8C30EE99}"/>
                </a:ext>
              </a:extLst>
            </p:cNvPr>
            <p:cNvSpPr/>
            <p:nvPr/>
          </p:nvSpPr>
          <p:spPr>
            <a:xfrm>
              <a:off x="7221905" y="2902524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pic>
          <p:nvPicPr>
            <p:cNvPr id="18" name="Imagen 17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99C58F0-41FF-3D58-2AB3-BB9884B86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8" t="11934" r="66073" b="12581"/>
            <a:stretch>
              <a:fillRect/>
            </a:stretch>
          </p:blipFill>
          <p:spPr>
            <a:xfrm>
              <a:off x="7620534" y="3285678"/>
              <a:ext cx="1009477" cy="983226"/>
            </a:xfrm>
            <a:prstGeom prst="rect">
              <a:avLst/>
            </a:prstGeom>
          </p:spPr>
        </p:pic>
        <p:sp>
          <p:nvSpPr>
            <p:cNvPr id="19" name="Google Shape;238;p20">
              <a:extLst>
                <a:ext uri="{FF2B5EF4-FFF2-40B4-BE49-F238E27FC236}">
                  <a16:creationId xmlns:a16="http://schemas.microsoft.com/office/drawing/2014/main" id="{C7400303-40F7-8467-700C-77F0456D33DB}"/>
                </a:ext>
              </a:extLst>
            </p:cNvPr>
            <p:cNvSpPr txBox="1">
              <a:spLocks/>
            </p:cNvSpPr>
            <p:nvPr/>
          </p:nvSpPr>
          <p:spPr>
            <a:xfrm>
              <a:off x="6641573" y="1932880"/>
              <a:ext cx="295941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Features cannot be </a:t>
              </a:r>
              <a:r>
                <a:rPr lang="en-US" sz="1600" b="1" dirty="0">
                  <a:solidFill>
                    <a:srgbClr val="FFA43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DELETED PROGRAMATICALLY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C4FBED04-3436-EB65-8604-50F29AF16F50}"/>
              </a:ext>
            </a:extLst>
          </p:cNvPr>
          <p:cNvGrpSpPr/>
          <p:nvPr/>
        </p:nvGrpSpPr>
        <p:grpSpPr>
          <a:xfrm>
            <a:off x="8703015" y="3201882"/>
            <a:ext cx="2959411" cy="3215887"/>
            <a:chOff x="8703015" y="3201882"/>
            <a:chExt cx="2959411" cy="3215887"/>
          </a:xfrm>
        </p:grpSpPr>
        <p:sp>
          <p:nvSpPr>
            <p:cNvPr id="237" name="Google Shape;237;p20"/>
            <p:cNvSpPr/>
            <p:nvPr/>
          </p:nvSpPr>
          <p:spPr>
            <a:xfrm>
              <a:off x="8823346" y="5045936"/>
              <a:ext cx="2723311" cy="6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800" b="1" dirty="0" err="1">
                  <a:solidFill>
                    <a:srgbClr val="DC56A9"/>
                  </a:solidFill>
                  <a:latin typeface="Roboto"/>
                  <a:ea typeface="Roboto"/>
                  <a:cs typeface="Roboto"/>
                  <a:sym typeface="Roboto"/>
                </a:rPr>
                <a:t>LaunchDarkly</a:t>
              </a:r>
              <a:r>
                <a:rPr lang="en-US" sz="5333" b="1" dirty="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9108252" y="4110233"/>
              <a:ext cx="2160000" cy="1080000"/>
            </a:xfrm>
            <a:custGeom>
              <a:avLst/>
              <a:gdLst/>
              <a:ahLst/>
              <a:cxnLst/>
              <a:rect l="l" t="t" r="r" b="b"/>
              <a:pathLst>
                <a:path w="40565" h="21408" extrusionOk="0">
                  <a:moveTo>
                    <a:pt x="0" y="3287"/>
                  </a:moveTo>
                  <a:cubicBezTo>
                    <a:pt x="1108" y="13467"/>
                    <a:pt x="9751" y="21408"/>
                    <a:pt x="20217" y="21408"/>
                  </a:cubicBezTo>
                  <a:cubicBezTo>
                    <a:pt x="31433" y="21408"/>
                    <a:pt x="40565" y="12288"/>
                    <a:pt x="40565" y="1072"/>
                  </a:cubicBezTo>
                  <a:cubicBezTo>
                    <a:pt x="40565" y="477"/>
                    <a:pt x="40089" y="1"/>
                    <a:pt x="39493" y="1"/>
                  </a:cubicBezTo>
                  <a:cubicBezTo>
                    <a:pt x="38898" y="1"/>
                    <a:pt x="38410" y="477"/>
                    <a:pt x="38410" y="1072"/>
                  </a:cubicBezTo>
                  <a:cubicBezTo>
                    <a:pt x="38410" y="11097"/>
                    <a:pt x="30242" y="19265"/>
                    <a:pt x="20217" y="19265"/>
                  </a:cubicBezTo>
                  <a:cubicBezTo>
                    <a:pt x="10883" y="19265"/>
                    <a:pt x="3179" y="12216"/>
                    <a:pt x="2131" y="3156"/>
                  </a:cubicBezTo>
                  <a:cubicBezTo>
                    <a:pt x="1774" y="3358"/>
                    <a:pt x="1369" y="3465"/>
                    <a:pt x="941" y="3465"/>
                  </a:cubicBezTo>
                  <a:cubicBezTo>
                    <a:pt x="619" y="3477"/>
                    <a:pt x="286" y="3406"/>
                    <a:pt x="0" y="3287"/>
                  </a:cubicBezTo>
                  <a:close/>
                </a:path>
              </a:pathLst>
            </a:custGeom>
            <a:solidFill>
              <a:srgbClr val="DC56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>
                <a:solidFill>
                  <a:srgbClr val="DC56A9"/>
                </a:solidFill>
              </a:endParaRPr>
            </a:p>
          </p:txBody>
        </p:sp>
        <p:sp>
          <p:nvSpPr>
            <p:cNvPr id="5" name="Google Shape;248;p20">
              <a:extLst>
                <a:ext uri="{FF2B5EF4-FFF2-40B4-BE49-F238E27FC236}">
                  <a16:creationId xmlns:a16="http://schemas.microsoft.com/office/drawing/2014/main" id="{0E05EAF1-CB40-F526-1C09-CBE6531D30A8}"/>
                </a:ext>
              </a:extLst>
            </p:cNvPr>
            <p:cNvSpPr/>
            <p:nvPr/>
          </p:nvSpPr>
          <p:spPr>
            <a:xfrm>
              <a:off x="9288252" y="3201882"/>
              <a:ext cx="1800000" cy="1800000"/>
            </a:xfrm>
            <a:custGeom>
              <a:avLst/>
              <a:gdLst/>
              <a:ahLst/>
              <a:cxnLst/>
              <a:rect l="l" t="t" r="r" b="b"/>
              <a:pathLst>
                <a:path w="32839" h="32827" extrusionOk="0">
                  <a:moveTo>
                    <a:pt x="16420" y="1918"/>
                  </a:moveTo>
                  <a:cubicBezTo>
                    <a:pt x="24433" y="1918"/>
                    <a:pt x="30922" y="8406"/>
                    <a:pt x="30922" y="16407"/>
                  </a:cubicBezTo>
                  <a:cubicBezTo>
                    <a:pt x="30922" y="24420"/>
                    <a:pt x="24421" y="30909"/>
                    <a:pt x="16420" y="30909"/>
                  </a:cubicBezTo>
                  <a:cubicBezTo>
                    <a:pt x="8419" y="30909"/>
                    <a:pt x="1930" y="24420"/>
                    <a:pt x="1930" y="16407"/>
                  </a:cubicBezTo>
                  <a:cubicBezTo>
                    <a:pt x="1930" y="8406"/>
                    <a:pt x="8419" y="1918"/>
                    <a:pt x="16420" y="1918"/>
                  </a:cubicBezTo>
                  <a:close/>
                  <a:moveTo>
                    <a:pt x="16420" y="1"/>
                  </a:moveTo>
                  <a:cubicBezTo>
                    <a:pt x="7371" y="1"/>
                    <a:pt x="1" y="7359"/>
                    <a:pt x="1" y="16407"/>
                  </a:cubicBezTo>
                  <a:cubicBezTo>
                    <a:pt x="1" y="25456"/>
                    <a:pt x="7371" y="32826"/>
                    <a:pt x="16420" y="32826"/>
                  </a:cubicBezTo>
                  <a:cubicBezTo>
                    <a:pt x="25468" y="32826"/>
                    <a:pt x="32838" y="25456"/>
                    <a:pt x="32838" y="16407"/>
                  </a:cubicBezTo>
                  <a:cubicBezTo>
                    <a:pt x="32838" y="7359"/>
                    <a:pt x="25468" y="1"/>
                    <a:pt x="16420" y="1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20" name="Google Shape;238;p20">
              <a:extLst>
                <a:ext uri="{FF2B5EF4-FFF2-40B4-BE49-F238E27FC236}">
                  <a16:creationId xmlns:a16="http://schemas.microsoft.com/office/drawing/2014/main" id="{DD33CBF2-D674-B6C0-1ACD-B4B3C00655D3}"/>
                </a:ext>
              </a:extLst>
            </p:cNvPr>
            <p:cNvSpPr txBox="1">
              <a:spLocks/>
            </p:cNvSpPr>
            <p:nvPr/>
          </p:nvSpPr>
          <p:spPr>
            <a:xfrm>
              <a:off x="8703015" y="5722736"/>
              <a:ext cx="295941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b="1" dirty="0">
                  <a:solidFill>
                    <a:srgbClr val="FFA43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IMPROVE</a:t>
              </a: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hot context change management</a:t>
              </a:r>
              <a:endParaRPr lang="en-US" sz="1600" b="1" dirty="0">
                <a:solidFill>
                  <a:srgbClr val="FFA4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21" name="Imagen 20" descr="Texto, Logotipo&#10;&#10;El contenido generado por IA puede ser incorrecto.">
              <a:extLst>
                <a:ext uri="{FF2B5EF4-FFF2-40B4-BE49-F238E27FC236}">
                  <a16:creationId xmlns:a16="http://schemas.microsoft.com/office/drawing/2014/main" id="{B9046D35-3412-2B47-1AC2-9F5A2A178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248" t="35968" r="1374" b="36367"/>
            <a:stretch>
              <a:fillRect/>
            </a:stretch>
          </p:blipFill>
          <p:spPr>
            <a:xfrm>
              <a:off x="9681008" y="3645134"/>
              <a:ext cx="1003423" cy="941674"/>
            </a:xfrm>
            <a:prstGeom prst="rect">
              <a:avLst/>
            </a:prstGeom>
          </p:spPr>
        </p:pic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128C9A7-4A0C-FA47-BC59-359C418BE0E8}"/>
              </a:ext>
            </a:extLst>
          </p:cNvPr>
          <p:cNvGrpSpPr/>
          <p:nvPr/>
        </p:nvGrpSpPr>
        <p:grpSpPr>
          <a:xfrm>
            <a:off x="588592" y="3213178"/>
            <a:ext cx="2635497" cy="3193570"/>
            <a:chOff x="588592" y="3213178"/>
            <a:chExt cx="2635497" cy="3193570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81AADAC6-A2C0-6B75-BD6B-46E3BFE65850}"/>
                </a:ext>
              </a:extLst>
            </p:cNvPr>
            <p:cNvGrpSpPr/>
            <p:nvPr/>
          </p:nvGrpSpPr>
          <p:grpSpPr>
            <a:xfrm>
              <a:off x="588592" y="3213178"/>
              <a:ext cx="2578076" cy="2494949"/>
              <a:chOff x="588592" y="3213178"/>
              <a:chExt cx="2578076" cy="2494949"/>
            </a:xfrm>
          </p:grpSpPr>
          <p:sp>
            <p:nvSpPr>
              <p:cNvPr id="233" name="Google Shape;233;p20"/>
              <p:cNvSpPr/>
              <p:nvPr/>
            </p:nvSpPr>
            <p:spPr>
              <a:xfrm>
                <a:off x="588592" y="5031327"/>
                <a:ext cx="2578076" cy="67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accent5"/>
                    </a:solidFill>
                    <a:latin typeface="Roboto"/>
                    <a:ea typeface="Roboto"/>
                    <a:cs typeface="Roboto"/>
                    <a:sym typeface="Roboto"/>
                  </a:rPr>
                  <a:t>Pricing4SaaS</a:t>
                </a:r>
                <a:r>
                  <a:rPr lang="en-US" sz="5333" b="1" dirty="0">
                    <a:solidFill>
                      <a:schemeClr val="accent5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841612" y="4102026"/>
                <a:ext cx="2160000" cy="1080000"/>
              </a:xfrm>
              <a:custGeom>
                <a:avLst/>
                <a:gdLst/>
                <a:ahLst/>
                <a:cxnLst/>
                <a:rect l="l" t="t" r="r" b="b"/>
                <a:pathLst>
                  <a:path w="40696" h="21408" extrusionOk="0">
                    <a:moveTo>
                      <a:pt x="40696" y="1072"/>
                    </a:moveTo>
                    <a:cubicBezTo>
                      <a:pt x="40696" y="477"/>
                      <a:pt x="40220" y="1"/>
                      <a:pt x="39624" y="1"/>
                    </a:cubicBezTo>
                    <a:cubicBezTo>
                      <a:pt x="39029" y="1"/>
                      <a:pt x="38553" y="477"/>
                      <a:pt x="38553" y="1072"/>
                    </a:cubicBezTo>
                    <a:cubicBezTo>
                      <a:pt x="38553" y="11097"/>
                      <a:pt x="30385" y="19265"/>
                      <a:pt x="20348" y="19265"/>
                    </a:cubicBezTo>
                    <a:cubicBezTo>
                      <a:pt x="10311" y="19265"/>
                      <a:pt x="2143" y="11097"/>
                      <a:pt x="2143" y="1072"/>
                    </a:cubicBezTo>
                    <a:cubicBezTo>
                      <a:pt x="2143" y="477"/>
                      <a:pt x="1667" y="1"/>
                      <a:pt x="1072" y="1"/>
                    </a:cubicBezTo>
                    <a:cubicBezTo>
                      <a:pt x="477" y="1"/>
                      <a:pt x="0" y="477"/>
                      <a:pt x="0" y="1072"/>
                    </a:cubicBezTo>
                    <a:cubicBezTo>
                      <a:pt x="0" y="12288"/>
                      <a:pt x="9132" y="21408"/>
                      <a:pt x="20348" y="21408"/>
                    </a:cubicBezTo>
                    <a:cubicBezTo>
                      <a:pt x="31576" y="21408"/>
                      <a:pt x="40696" y="12288"/>
                      <a:pt x="40696" y="10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1021612" y="3213178"/>
                <a:ext cx="1800000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32839" h="32827" extrusionOk="0">
                    <a:moveTo>
                      <a:pt x="16420" y="1918"/>
                    </a:moveTo>
                    <a:cubicBezTo>
                      <a:pt x="24433" y="1918"/>
                      <a:pt x="30922" y="8406"/>
                      <a:pt x="30922" y="16407"/>
                    </a:cubicBezTo>
                    <a:cubicBezTo>
                      <a:pt x="30922" y="24420"/>
                      <a:pt x="24421" y="30909"/>
                      <a:pt x="16420" y="30909"/>
                    </a:cubicBezTo>
                    <a:cubicBezTo>
                      <a:pt x="8419" y="30909"/>
                      <a:pt x="1930" y="24420"/>
                      <a:pt x="1930" y="16407"/>
                    </a:cubicBezTo>
                    <a:cubicBezTo>
                      <a:pt x="1930" y="8406"/>
                      <a:pt x="8419" y="1918"/>
                      <a:pt x="16420" y="1918"/>
                    </a:cubicBezTo>
                    <a:close/>
                    <a:moveTo>
                      <a:pt x="16420" y="1"/>
                    </a:moveTo>
                    <a:cubicBezTo>
                      <a:pt x="7371" y="1"/>
                      <a:pt x="1" y="7359"/>
                      <a:pt x="1" y="16407"/>
                    </a:cubicBezTo>
                    <a:cubicBezTo>
                      <a:pt x="1" y="25456"/>
                      <a:pt x="7371" y="32826"/>
                      <a:pt x="16420" y="32826"/>
                    </a:cubicBezTo>
                    <a:cubicBezTo>
                      <a:pt x="25468" y="32826"/>
                      <a:pt x="32838" y="25456"/>
                      <a:pt x="32838" y="16407"/>
                    </a:cubicBezTo>
                    <a:cubicBezTo>
                      <a:pt x="32838" y="7359"/>
                      <a:pt x="25468" y="1"/>
                      <a:pt x="16420" y="1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lang="en-US" sz="2400" dirty="0"/>
              </a:p>
            </p:txBody>
          </p:sp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531B9D50-9F90-F39B-D0FD-FF49EBDEA09C}"/>
                  </a:ext>
                </a:extLst>
              </p:cNvPr>
              <p:cNvGrpSpPr/>
              <p:nvPr/>
            </p:nvGrpSpPr>
            <p:grpSpPr>
              <a:xfrm>
                <a:off x="1519434" y="3786640"/>
                <a:ext cx="805043" cy="691086"/>
                <a:chOff x="1519434" y="3786640"/>
                <a:chExt cx="805043" cy="691086"/>
              </a:xfrm>
            </p:grpSpPr>
            <p:sp>
              <p:nvSpPr>
                <p:cNvPr id="9" name="Rectángulo redondeado 8">
                  <a:extLst>
                    <a:ext uri="{FF2B5EF4-FFF2-40B4-BE49-F238E27FC236}">
                      <a16:creationId xmlns:a16="http://schemas.microsoft.com/office/drawing/2014/main" id="{96B62A14-C41C-F007-0FAE-9DDF47AE2B9E}"/>
                    </a:ext>
                  </a:extLst>
                </p:cNvPr>
                <p:cNvSpPr/>
                <p:nvPr/>
              </p:nvSpPr>
              <p:spPr>
                <a:xfrm>
                  <a:off x="1529428" y="3786640"/>
                  <a:ext cx="795049" cy="306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0" name="Imagen 9" descr="Icono&#10;&#10;El contenido generado por IA puede ser incorrecto.">
                  <a:extLst>
                    <a:ext uri="{FF2B5EF4-FFF2-40B4-BE49-F238E27FC236}">
                      <a16:creationId xmlns:a16="http://schemas.microsoft.com/office/drawing/2014/main" id="{5D409392-9D5C-1567-F688-ADEE5AE572B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8326" y="3809336"/>
                  <a:ext cx="360000" cy="306000"/>
                </a:xfrm>
                <a:prstGeom prst="rect">
                  <a:avLst/>
                </a:prstGeom>
              </p:spPr>
            </p:pic>
            <p:sp>
              <p:nvSpPr>
                <p:cNvPr id="11" name="Rectángulo redondeado 10">
                  <a:extLst>
                    <a:ext uri="{FF2B5EF4-FFF2-40B4-BE49-F238E27FC236}">
                      <a16:creationId xmlns:a16="http://schemas.microsoft.com/office/drawing/2014/main" id="{806D8724-28E6-694D-09DF-7DC49410F096}"/>
                    </a:ext>
                  </a:extLst>
                </p:cNvPr>
                <p:cNvSpPr/>
                <p:nvPr/>
              </p:nvSpPr>
              <p:spPr>
                <a:xfrm>
                  <a:off x="1519434" y="4150194"/>
                  <a:ext cx="795050" cy="306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2" name="Imagen 11" descr="Icono&#10;&#10;El contenido generado por IA puede ser incorrecto.">
                  <a:extLst>
                    <a:ext uri="{FF2B5EF4-FFF2-40B4-BE49-F238E27FC236}">
                      <a16:creationId xmlns:a16="http://schemas.microsoft.com/office/drawing/2014/main" id="{A58E49C2-C189-6762-53B1-4911CD02679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2719" y="4171726"/>
                  <a:ext cx="360000" cy="306000"/>
                </a:xfrm>
                <a:prstGeom prst="rect">
                  <a:avLst/>
                </a:prstGeom>
              </p:spPr>
            </p:pic>
          </p:grpSp>
        </p:grpSp>
        <p:sp>
          <p:nvSpPr>
            <p:cNvPr id="28" name="Google Shape;238;p20">
              <a:extLst>
                <a:ext uri="{FF2B5EF4-FFF2-40B4-BE49-F238E27FC236}">
                  <a16:creationId xmlns:a16="http://schemas.microsoft.com/office/drawing/2014/main" id="{7F19B3F2-4FA8-4CFC-EAB5-2902DB128B2D}"/>
                </a:ext>
              </a:extLst>
            </p:cNvPr>
            <p:cNvSpPr txBox="1">
              <a:spLocks/>
            </p:cNvSpPr>
            <p:nvPr/>
          </p:nvSpPr>
          <p:spPr>
            <a:xfrm>
              <a:off x="661348" y="5711715"/>
              <a:ext cx="2562741" cy="695033"/>
            </a:xfrm>
            <a:prstGeom prst="rect">
              <a:avLst/>
            </a:prstGeom>
          </p:spPr>
          <p:txBody>
            <a:bodyPr spcFirstLastPara="1" vert="horz" wrap="square" lIns="121900" tIns="121900" rIns="121900" bIns="121900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spcAft>
                  <a:spcPts val="2133"/>
                </a:spcAft>
                <a:buFont typeface="Arial"/>
                <a:buNone/>
              </a:pP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Classified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as</a:t>
              </a:r>
              <a:r>
                <a:rPr lang="en-US" sz="16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CAPABLE</a:t>
              </a:r>
              <a:endParaRPr lang="en-US" sz="16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A970904C-5A71-BB6C-3290-630372C22A6E}"/>
              </a:ext>
            </a:extLst>
          </p:cNvPr>
          <p:cNvSpPr txBox="1">
            <a:spLocks/>
          </p:cNvSpPr>
          <p:nvPr/>
        </p:nvSpPr>
        <p:spPr>
          <a:xfrm>
            <a:off x="0" y="131993"/>
            <a:ext cx="12192000" cy="111512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Revisiting and Extending Literature Results with HORIZON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07F2CF2-5DAF-D67A-D223-C879675A86C3}"/>
              </a:ext>
            </a:extLst>
          </p:cNvPr>
          <p:cNvSpPr txBox="1"/>
          <p:nvPr/>
        </p:nvSpPr>
        <p:spPr>
          <a:xfrm>
            <a:off x="11687941" y="6334780"/>
            <a:ext cx="490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