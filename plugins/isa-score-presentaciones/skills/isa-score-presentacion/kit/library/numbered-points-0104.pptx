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1/4/25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E6C3126-55A4-3724-807B-0B4040BE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6568B-9796-0D07-0B4F-BBDEB501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Future </a:t>
            </a:r>
            <a:r>
              <a:rPr lang="es-ES" dirty="0" err="1"/>
              <a:t>Work</a:t>
            </a:r>
            <a:endParaRPr lang="es-ES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376F14C-F5D3-0520-2E7E-D9B7F9AEE293}"/>
              </a:ext>
            </a:extLst>
          </p:cNvPr>
          <p:cNvGrpSpPr/>
          <p:nvPr/>
        </p:nvGrpSpPr>
        <p:grpSpPr>
          <a:xfrm>
            <a:off x="-186808" y="1255731"/>
            <a:ext cx="6303777" cy="2323748"/>
            <a:chOff x="-186808" y="1255731"/>
            <a:chExt cx="6303777" cy="2323748"/>
          </a:xfrm>
        </p:grpSpPr>
        <p:sp>
          <p:nvSpPr>
            <p:cNvPr id="6" name="Google Shape;2225;p41">
              <a:extLst>
                <a:ext uri="{FF2B5EF4-FFF2-40B4-BE49-F238E27FC236}">
                  <a16:creationId xmlns:a16="http://schemas.microsoft.com/office/drawing/2014/main" id="{070E884A-FF30-2D7E-9CA5-171C40EB56EF}"/>
                </a:ext>
              </a:extLst>
            </p:cNvPr>
            <p:cNvSpPr txBox="1">
              <a:spLocks/>
            </p:cNvSpPr>
            <p:nvPr/>
          </p:nvSpPr>
          <p:spPr>
            <a:xfrm>
              <a:off x="1856260" y="1529914"/>
              <a:ext cx="4260709" cy="714156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_tradnl" sz="3200" b="1" dirty="0">
                  <a:solidFill>
                    <a:schemeClr val="accent1"/>
                  </a:solidFill>
                </a:rPr>
                <a:t>PACO </a:t>
              </a:r>
              <a:r>
                <a:rPr lang="es-ES_tradnl" sz="3200" b="1" dirty="0" err="1">
                  <a:solidFill>
                    <a:schemeClr val="accent1"/>
                  </a:solidFill>
                </a:rPr>
                <a:t>Definition</a:t>
              </a:r>
              <a:endParaRPr lang="es-ES_tradnl" sz="4400" b="1" dirty="0"/>
            </a:p>
          </p:txBody>
        </p:sp>
        <p:sp>
          <p:nvSpPr>
            <p:cNvPr id="7" name="Google Shape;2226;p41">
              <a:extLst>
                <a:ext uri="{FF2B5EF4-FFF2-40B4-BE49-F238E27FC236}">
                  <a16:creationId xmlns:a16="http://schemas.microsoft.com/office/drawing/2014/main" id="{D8A92A3A-16E8-2425-BC89-AD2FEA53B738}"/>
                </a:ext>
              </a:extLst>
            </p:cNvPr>
            <p:cNvSpPr txBox="1">
              <a:spLocks/>
            </p:cNvSpPr>
            <p:nvPr/>
          </p:nvSpPr>
          <p:spPr>
            <a:xfrm>
              <a:off x="1856259" y="2134027"/>
              <a:ext cx="4260709" cy="144545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Formal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definition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of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the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problem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4" name="Google Shape;2233;p41">
              <a:extLst>
                <a:ext uri="{FF2B5EF4-FFF2-40B4-BE49-F238E27FC236}">
                  <a16:creationId xmlns:a16="http://schemas.microsoft.com/office/drawing/2014/main" id="{4CF2592A-F455-C2BE-2F64-8C2F97C6E036}"/>
                </a:ext>
              </a:extLst>
            </p:cNvPr>
            <p:cNvSpPr txBox="1"/>
            <p:nvPr/>
          </p:nvSpPr>
          <p:spPr>
            <a:xfrm>
              <a:off x="-186808" y="1255731"/>
              <a:ext cx="2583761" cy="2055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01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A86BBE7-AF2C-7D46-B749-CC2818BD7FA1}"/>
              </a:ext>
            </a:extLst>
          </p:cNvPr>
          <p:cNvGrpSpPr/>
          <p:nvPr/>
        </p:nvGrpSpPr>
        <p:grpSpPr>
          <a:xfrm>
            <a:off x="1105072" y="3547717"/>
            <a:ext cx="6299380" cy="2381965"/>
            <a:chOff x="1105072" y="3547717"/>
            <a:chExt cx="6299380" cy="2381965"/>
          </a:xfrm>
        </p:grpSpPr>
        <p:sp>
          <p:nvSpPr>
            <p:cNvPr id="10" name="Google Shape;2229;p41">
              <a:extLst>
                <a:ext uri="{FF2B5EF4-FFF2-40B4-BE49-F238E27FC236}">
                  <a16:creationId xmlns:a16="http://schemas.microsoft.com/office/drawing/2014/main" id="{574E8EFF-697B-BDC3-DE9F-9E4FD408E204}"/>
                </a:ext>
              </a:extLst>
            </p:cNvPr>
            <p:cNvSpPr txBox="1">
              <a:spLocks/>
            </p:cNvSpPr>
            <p:nvPr/>
          </p:nvSpPr>
          <p:spPr>
            <a:xfrm>
              <a:off x="3143743" y="3814703"/>
              <a:ext cx="4260709" cy="71415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sz="3200" b="1" dirty="0">
                  <a:solidFill>
                    <a:schemeClr val="accent1"/>
                  </a:solidFill>
                </a:rPr>
                <a:t>PACO </a:t>
              </a:r>
              <a:r>
                <a:rPr lang="es-ES" sz="3200" b="1" dirty="0" err="1">
                  <a:solidFill>
                    <a:schemeClr val="accent1"/>
                  </a:solidFill>
                </a:rPr>
                <a:t>Solution</a:t>
              </a:r>
              <a:endParaRPr lang="es-ES" sz="3200" b="1" dirty="0">
                <a:solidFill>
                  <a:schemeClr val="accent1"/>
                </a:solidFill>
              </a:endParaRPr>
            </a:p>
          </p:txBody>
        </p:sp>
        <p:sp>
          <p:nvSpPr>
            <p:cNvPr id="11" name="Google Shape;2230;p41">
              <a:extLst>
                <a:ext uri="{FF2B5EF4-FFF2-40B4-BE49-F238E27FC236}">
                  <a16:creationId xmlns:a16="http://schemas.microsoft.com/office/drawing/2014/main" id="{48DA613D-0073-346E-FFF3-4DA5C217D08A}"/>
                </a:ext>
              </a:extLst>
            </p:cNvPr>
            <p:cNvSpPr txBox="1">
              <a:spLocks/>
            </p:cNvSpPr>
            <p:nvPr/>
          </p:nvSpPr>
          <p:spPr>
            <a:xfrm>
              <a:off x="3143743" y="4484230"/>
              <a:ext cx="3350258" cy="144545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An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implementation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that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can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solve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it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5" name="Google Shape;2234;p41">
              <a:extLst>
                <a:ext uri="{FF2B5EF4-FFF2-40B4-BE49-F238E27FC236}">
                  <a16:creationId xmlns:a16="http://schemas.microsoft.com/office/drawing/2014/main" id="{29DBCD97-7410-06D6-07D0-066CC5BF5201}"/>
                </a:ext>
              </a:extLst>
            </p:cNvPr>
            <p:cNvSpPr txBox="1"/>
            <p:nvPr/>
          </p:nvSpPr>
          <p:spPr>
            <a:xfrm>
              <a:off x="1105072" y="3547717"/>
              <a:ext cx="2583761" cy="204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03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C426D63-4767-CF40-FA03-681EDC7D730B}"/>
              </a:ext>
            </a:extLst>
          </p:cNvPr>
          <p:cNvGrpSpPr/>
          <p:nvPr/>
        </p:nvGrpSpPr>
        <p:grpSpPr>
          <a:xfrm>
            <a:off x="6088304" y="3584969"/>
            <a:ext cx="6568835" cy="2411709"/>
            <a:chOff x="6088304" y="3584969"/>
            <a:chExt cx="6568835" cy="2411709"/>
          </a:xfrm>
        </p:grpSpPr>
        <p:sp>
          <p:nvSpPr>
            <p:cNvPr id="12" name="Google Shape;2231;p41">
              <a:extLst>
                <a:ext uri="{FF2B5EF4-FFF2-40B4-BE49-F238E27FC236}">
                  <a16:creationId xmlns:a16="http://schemas.microsoft.com/office/drawing/2014/main" id="{8851023E-CC86-8501-C793-8B02EDA1824A}"/>
                </a:ext>
              </a:extLst>
            </p:cNvPr>
            <p:cNvSpPr txBox="1">
              <a:spLocks/>
            </p:cNvSpPr>
            <p:nvPr/>
          </p:nvSpPr>
          <p:spPr>
            <a:xfrm>
              <a:off x="8290635" y="3832200"/>
              <a:ext cx="4366504" cy="71415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sz="3200" b="1" dirty="0">
                  <a:solidFill>
                    <a:schemeClr val="accent1"/>
                  </a:solidFill>
                </a:rPr>
                <a:t>PACO </a:t>
              </a:r>
              <a:r>
                <a:rPr lang="es-ES" sz="3200" b="1" dirty="0" err="1">
                  <a:solidFill>
                    <a:schemeClr val="accent1"/>
                  </a:solidFill>
                </a:rPr>
                <a:t>Family</a:t>
              </a:r>
              <a:endParaRPr lang="es-ES" sz="4400" b="1" dirty="0"/>
            </a:p>
          </p:txBody>
        </p:sp>
        <p:sp>
          <p:nvSpPr>
            <p:cNvPr id="13" name="Google Shape;2232;p41">
              <a:extLst>
                <a:ext uri="{FF2B5EF4-FFF2-40B4-BE49-F238E27FC236}">
                  <a16:creationId xmlns:a16="http://schemas.microsoft.com/office/drawing/2014/main" id="{B8102DD1-0744-3E79-3A31-4C330B8108DA}"/>
                </a:ext>
              </a:extLst>
            </p:cNvPr>
            <p:cNvSpPr txBox="1">
              <a:spLocks/>
            </p:cNvSpPr>
            <p:nvPr/>
          </p:nvSpPr>
          <p:spPr>
            <a:xfrm>
              <a:off x="8290635" y="4354604"/>
              <a:ext cx="3551959" cy="1642074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Explore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all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the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problems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that</a:t>
              </a:r>
              <a:r>
                <a:rPr lang="es-ES" dirty="0">
                  <a:solidFill>
                    <a:schemeClr val="tx1"/>
                  </a:solidFill>
                </a:rPr>
                <a:t> are </a:t>
              </a:r>
              <a:r>
                <a:rPr lang="es-ES" dirty="0" err="1">
                  <a:solidFill>
                    <a:schemeClr val="tx1"/>
                  </a:solidFill>
                </a:rPr>
                <a:t>part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of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it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6" name="Google Shape;2235;p41">
              <a:extLst>
                <a:ext uri="{FF2B5EF4-FFF2-40B4-BE49-F238E27FC236}">
                  <a16:creationId xmlns:a16="http://schemas.microsoft.com/office/drawing/2014/main" id="{A819B0BE-EEDC-FF44-B409-5CBC722784A9}"/>
                </a:ext>
              </a:extLst>
            </p:cNvPr>
            <p:cNvSpPr txBox="1"/>
            <p:nvPr/>
          </p:nvSpPr>
          <p:spPr>
            <a:xfrm>
              <a:off x="6088304" y="3584969"/>
              <a:ext cx="2583761" cy="204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04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DA2E6AE-F046-74FB-121F-7022BEA38044}"/>
              </a:ext>
            </a:extLst>
          </p:cNvPr>
          <p:cNvGrpSpPr/>
          <p:nvPr/>
        </p:nvGrpSpPr>
        <p:grpSpPr>
          <a:xfrm>
            <a:off x="5150643" y="1195005"/>
            <a:ext cx="6495507" cy="2352712"/>
            <a:chOff x="5150643" y="1195005"/>
            <a:chExt cx="6495507" cy="2352712"/>
          </a:xfrm>
        </p:grpSpPr>
        <p:sp>
          <p:nvSpPr>
            <p:cNvPr id="8" name="Google Shape;2227;p41">
              <a:extLst>
                <a:ext uri="{FF2B5EF4-FFF2-40B4-BE49-F238E27FC236}">
                  <a16:creationId xmlns:a16="http://schemas.microsoft.com/office/drawing/2014/main" id="{61BDBECF-BA91-A532-1A79-48D115E55A97}"/>
                </a:ext>
              </a:extLst>
            </p:cNvPr>
            <p:cNvSpPr txBox="1">
              <a:spLocks/>
            </p:cNvSpPr>
            <p:nvPr/>
          </p:nvSpPr>
          <p:spPr>
            <a:xfrm>
              <a:off x="7380184" y="1441002"/>
              <a:ext cx="4265966" cy="71415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sz="3200" b="1" dirty="0">
                  <a:solidFill>
                    <a:schemeClr val="accent1"/>
                  </a:solidFill>
                </a:rPr>
                <a:t>PACO </a:t>
              </a:r>
              <a:r>
                <a:rPr lang="es-ES" sz="3200" b="1" dirty="0" err="1">
                  <a:solidFill>
                    <a:schemeClr val="accent1"/>
                  </a:solidFill>
                </a:rPr>
                <a:t>Servitization</a:t>
              </a:r>
              <a:endParaRPr lang="es-ES" sz="4400" b="1" dirty="0"/>
            </a:p>
          </p:txBody>
        </p:sp>
        <p:sp>
          <p:nvSpPr>
            <p:cNvPr id="9" name="Google Shape;2228;p41">
              <a:extLst>
                <a:ext uri="{FF2B5EF4-FFF2-40B4-BE49-F238E27FC236}">
                  <a16:creationId xmlns:a16="http://schemas.microsoft.com/office/drawing/2014/main" id="{7CCE13BC-F107-113A-309C-EE8B9B75DC3F}"/>
                </a:ext>
              </a:extLst>
            </p:cNvPr>
            <p:cNvSpPr txBox="1">
              <a:spLocks/>
            </p:cNvSpPr>
            <p:nvPr/>
          </p:nvSpPr>
          <p:spPr>
            <a:xfrm>
              <a:off x="7380184" y="2102265"/>
              <a:ext cx="4265966" cy="144545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lvl1pPr marL="342887" indent="-342887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Revisit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QACO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model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and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its</a:t>
              </a:r>
              <a:r>
                <a:rPr lang="es-ES" dirty="0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 </a:t>
              </a:r>
              <a:r>
                <a:rPr lang="es-ES" dirty="0" err="1">
                  <a:solidFill>
                    <a:schemeClr val="tx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specification</a:t>
              </a:r>
              <a:endParaRPr lang="es-ES" sz="4400" dirty="0">
                <a:solidFill>
                  <a:schemeClr val="tx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17" name="Google Shape;2236;p41">
              <a:extLst>
                <a:ext uri="{FF2B5EF4-FFF2-40B4-BE49-F238E27FC236}">
                  <a16:creationId xmlns:a16="http://schemas.microsoft.com/office/drawing/2014/main" id="{E2342C29-B249-3172-2010-80150E79537C}"/>
                </a:ext>
              </a:extLst>
            </p:cNvPr>
            <p:cNvSpPr txBox="1"/>
            <p:nvPr/>
          </p:nvSpPr>
          <p:spPr>
            <a:xfrm>
              <a:off x="5150643" y="1195005"/>
              <a:ext cx="2583761" cy="2055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02</a:t>
              </a:r>
              <a:endParaRPr sz="115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B07A41E-E56D-61B0-6229-4E8A4C50D947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406309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